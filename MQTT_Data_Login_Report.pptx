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71" r:id="rId9"/>
    <p:sldId id="272" r:id="rId10"/>
    <p:sldId id="263" r:id="rId11"/>
    <p:sldId id="264" r:id="rId12"/>
    <p:sldId id="265" r:id="rId13"/>
    <p:sldId id="266" r:id="rId14"/>
    <p:sldId id="267" r:id="rId15"/>
    <p:sldId id="268" r:id="rId16"/>
    <p:sldId id="269" r:id="rId17"/>
    <p:sldId id="270" r:id="rId18"/>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52" d="100"/>
          <a:sy n="52" d="100"/>
        </p:scale>
        <p:origin x="2664" y="58"/>
      </p:cViewPr>
      <p:guideLst>
        <p:guide orient="horz" pos="3120"/>
        <p:guide pos="218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pam Yadav" userId="abbe56797e629d9e" providerId="LiveId" clId="{A8CD0FD3-D25F-4BB8-8DBA-FA2E05336C71}"/>
    <pc:docChg chg="undo custSel addSld modSld sldOrd">
      <pc:chgData name="Anupam Yadav" userId="abbe56797e629d9e" providerId="LiveId" clId="{A8CD0FD3-D25F-4BB8-8DBA-FA2E05336C71}" dt="2026-04-27T08:01:34.939" v="276" actId="14100"/>
      <pc:docMkLst>
        <pc:docMk/>
      </pc:docMkLst>
      <pc:sldChg chg="addSp delSp modSp add mod">
        <pc:chgData name="Anupam Yadav" userId="abbe56797e629d9e" providerId="LiveId" clId="{A8CD0FD3-D25F-4BB8-8DBA-FA2E05336C71}" dt="2026-04-26T06:33:27.957" v="14" actId="1076"/>
        <pc:sldMkLst>
          <pc:docMk/>
          <pc:sldMk cId="2711008168" sldId="266"/>
        </pc:sldMkLst>
        <pc:spChg chg="del mod">
          <ac:chgData name="Anupam Yadav" userId="abbe56797e629d9e" providerId="LiveId" clId="{A8CD0FD3-D25F-4BB8-8DBA-FA2E05336C71}" dt="2026-04-26T06:30:48.688" v="7"/>
          <ac:spMkLst>
            <pc:docMk/>
            <pc:sldMk cId="2711008168" sldId="266"/>
            <ac:spMk id="2" creationId="{9107A124-B9EA-66AA-4F01-2C8FC029EFE3}"/>
          </ac:spMkLst>
        </pc:spChg>
        <pc:spChg chg="add mod">
          <ac:chgData name="Anupam Yadav" userId="abbe56797e629d9e" providerId="LiveId" clId="{A8CD0FD3-D25F-4BB8-8DBA-FA2E05336C71}" dt="2026-04-26T06:33:24.844" v="13" actId="1076"/>
          <ac:spMkLst>
            <pc:docMk/>
            <pc:sldMk cId="2711008168" sldId="266"/>
            <ac:spMk id="7" creationId="{EA58102A-9CE1-5B3C-BF3A-4CB9E4645235}"/>
          </ac:spMkLst>
        </pc:spChg>
        <pc:picChg chg="add mod">
          <ac:chgData name="Anupam Yadav" userId="abbe56797e629d9e" providerId="LiveId" clId="{A8CD0FD3-D25F-4BB8-8DBA-FA2E05336C71}" dt="2026-04-26T06:30:45.035" v="5" actId="1076"/>
          <ac:picMkLst>
            <pc:docMk/>
            <pc:sldMk cId="2711008168" sldId="266"/>
            <ac:picMk id="4" creationId="{5D286AF9-10CD-B07E-C3FF-C0F8F8F465DF}"/>
          </ac:picMkLst>
        </pc:picChg>
        <pc:picChg chg="add mod">
          <ac:chgData name="Anupam Yadav" userId="abbe56797e629d9e" providerId="LiveId" clId="{A8CD0FD3-D25F-4BB8-8DBA-FA2E05336C71}" dt="2026-04-26T06:33:27.957" v="14" actId="1076"/>
          <ac:picMkLst>
            <pc:docMk/>
            <pc:sldMk cId="2711008168" sldId="266"/>
            <ac:picMk id="6" creationId="{ECD6A8D7-5A85-3BF0-1725-9B92B988F063}"/>
          </ac:picMkLst>
        </pc:picChg>
      </pc:sldChg>
      <pc:sldChg chg="addSp delSp modSp add mod">
        <pc:chgData name="Anupam Yadav" userId="abbe56797e629d9e" providerId="LiveId" clId="{A8CD0FD3-D25F-4BB8-8DBA-FA2E05336C71}" dt="2026-04-26T06:39:11.362" v="48" actId="1076"/>
        <pc:sldMkLst>
          <pc:docMk/>
          <pc:sldMk cId="4031711657" sldId="267"/>
        </pc:sldMkLst>
        <pc:spChg chg="del">
          <ac:chgData name="Anupam Yadav" userId="abbe56797e629d9e" providerId="LiveId" clId="{A8CD0FD3-D25F-4BB8-8DBA-FA2E05336C71}" dt="2026-04-26T06:36:50.396" v="18" actId="478"/>
          <ac:spMkLst>
            <pc:docMk/>
            <pc:sldMk cId="4031711657" sldId="267"/>
            <ac:spMk id="7" creationId="{8627BE84-BCFF-7012-41E6-237EA5DA7AE5}"/>
          </ac:spMkLst>
        </pc:spChg>
        <pc:spChg chg="add mod">
          <ac:chgData name="Anupam Yadav" userId="abbe56797e629d9e" providerId="LiveId" clId="{A8CD0FD3-D25F-4BB8-8DBA-FA2E05336C71}" dt="2026-04-26T06:38:17.098" v="36"/>
          <ac:spMkLst>
            <pc:docMk/>
            <pc:sldMk cId="4031711657" sldId="267"/>
            <ac:spMk id="13" creationId="{D12382AA-E8A6-AF8F-FD50-58A55CDAE4D5}"/>
          </ac:spMkLst>
        </pc:spChg>
        <pc:spChg chg="add mod">
          <ac:chgData name="Anupam Yadav" userId="abbe56797e629d9e" providerId="LiveId" clId="{A8CD0FD3-D25F-4BB8-8DBA-FA2E05336C71}" dt="2026-04-26T06:38:48.743" v="41" actId="1076"/>
          <ac:spMkLst>
            <pc:docMk/>
            <pc:sldMk cId="4031711657" sldId="267"/>
            <ac:spMk id="14" creationId="{3D254DC5-33A8-E301-622F-15AA09AD9F79}"/>
          </ac:spMkLst>
        </pc:spChg>
        <pc:picChg chg="add del mod">
          <ac:chgData name="Anupam Yadav" userId="abbe56797e629d9e" providerId="LiveId" clId="{A8CD0FD3-D25F-4BB8-8DBA-FA2E05336C71}" dt="2026-04-26T06:37:25.999" v="30" actId="931"/>
          <ac:picMkLst>
            <pc:docMk/>
            <pc:sldMk cId="4031711657" sldId="267"/>
            <ac:picMk id="3" creationId="{C61872CE-9ABF-517C-0174-AD2D7D7E2ECE}"/>
          </ac:picMkLst>
        </pc:picChg>
        <pc:picChg chg="del">
          <ac:chgData name="Anupam Yadav" userId="abbe56797e629d9e" providerId="LiveId" clId="{A8CD0FD3-D25F-4BB8-8DBA-FA2E05336C71}" dt="2026-04-26T06:36:44.051" v="16" actId="478"/>
          <ac:picMkLst>
            <pc:docMk/>
            <pc:sldMk cId="4031711657" sldId="267"/>
            <ac:picMk id="4" creationId="{0748DA6E-BF96-8CD3-4D09-11FE6BF60A46}"/>
          </ac:picMkLst>
        </pc:picChg>
        <pc:picChg chg="del">
          <ac:chgData name="Anupam Yadav" userId="abbe56797e629d9e" providerId="LiveId" clId="{A8CD0FD3-D25F-4BB8-8DBA-FA2E05336C71}" dt="2026-04-26T06:36:45.815" v="17" actId="478"/>
          <ac:picMkLst>
            <pc:docMk/>
            <pc:sldMk cId="4031711657" sldId="267"/>
            <ac:picMk id="6" creationId="{0181865E-6639-6594-1CEE-62DDF9C428C6}"/>
          </ac:picMkLst>
        </pc:picChg>
        <pc:picChg chg="add del mod">
          <ac:chgData name="Anupam Yadav" userId="abbe56797e629d9e" providerId="LiveId" clId="{A8CD0FD3-D25F-4BB8-8DBA-FA2E05336C71}" dt="2026-04-26T06:37:25.999" v="30" actId="931"/>
          <ac:picMkLst>
            <pc:docMk/>
            <pc:sldMk cId="4031711657" sldId="267"/>
            <ac:picMk id="8" creationId="{BE5AFEC6-E055-5FDD-323A-C1D83D74FD5B}"/>
          </ac:picMkLst>
        </pc:picChg>
        <pc:picChg chg="add mod">
          <ac:chgData name="Anupam Yadav" userId="abbe56797e629d9e" providerId="LiveId" clId="{A8CD0FD3-D25F-4BB8-8DBA-FA2E05336C71}" dt="2026-04-26T06:38:35.361" v="40" actId="1076"/>
          <ac:picMkLst>
            <pc:docMk/>
            <pc:sldMk cId="4031711657" sldId="267"/>
            <ac:picMk id="10" creationId="{ACA24195-458A-0407-6427-6FE06B555538}"/>
          </ac:picMkLst>
        </pc:picChg>
        <pc:picChg chg="add mod">
          <ac:chgData name="Anupam Yadav" userId="abbe56797e629d9e" providerId="LiveId" clId="{A8CD0FD3-D25F-4BB8-8DBA-FA2E05336C71}" dt="2026-04-26T06:39:11.362" v="48" actId="1076"/>
          <ac:picMkLst>
            <pc:docMk/>
            <pc:sldMk cId="4031711657" sldId="267"/>
            <ac:picMk id="12" creationId="{44AC93BA-FFA1-4D18-B03F-6F07BEBCEA18}"/>
          </ac:picMkLst>
        </pc:picChg>
      </pc:sldChg>
      <pc:sldChg chg="addSp delSp modSp add mod">
        <pc:chgData name="Anupam Yadav" userId="abbe56797e629d9e" providerId="LiveId" clId="{A8CD0FD3-D25F-4BB8-8DBA-FA2E05336C71}" dt="2026-04-26T06:44:35.587" v="80" actId="2711"/>
        <pc:sldMkLst>
          <pc:docMk/>
          <pc:sldMk cId="320261700" sldId="268"/>
        </pc:sldMkLst>
        <pc:spChg chg="add mod">
          <ac:chgData name="Anupam Yadav" userId="abbe56797e629d9e" providerId="LiveId" clId="{A8CD0FD3-D25F-4BB8-8DBA-FA2E05336C71}" dt="2026-04-26T06:44:29.585" v="79" actId="2711"/>
          <ac:spMkLst>
            <pc:docMk/>
            <pc:sldMk cId="320261700" sldId="268"/>
            <ac:spMk id="2" creationId="{A3459653-901E-8A0D-7714-416A447A4451}"/>
          </ac:spMkLst>
        </pc:spChg>
        <pc:spChg chg="add mod">
          <ac:chgData name="Anupam Yadav" userId="abbe56797e629d9e" providerId="LiveId" clId="{A8CD0FD3-D25F-4BB8-8DBA-FA2E05336C71}" dt="2026-04-26T06:44:35.587" v="80" actId="2711"/>
          <ac:spMkLst>
            <pc:docMk/>
            <pc:sldMk cId="320261700" sldId="268"/>
            <ac:spMk id="3" creationId="{231AFDC1-E320-B0FB-9579-1CC63F179815}"/>
          </ac:spMkLst>
        </pc:spChg>
        <pc:spChg chg="del">
          <ac:chgData name="Anupam Yadav" userId="abbe56797e629d9e" providerId="LiveId" clId="{A8CD0FD3-D25F-4BB8-8DBA-FA2E05336C71}" dt="2026-04-26T06:40:19.383" v="51" actId="478"/>
          <ac:spMkLst>
            <pc:docMk/>
            <pc:sldMk cId="320261700" sldId="268"/>
            <ac:spMk id="13" creationId="{71CB589D-08BC-5EB1-5D27-B0FF008389C1}"/>
          </ac:spMkLst>
        </pc:spChg>
        <pc:spChg chg="del">
          <ac:chgData name="Anupam Yadav" userId="abbe56797e629d9e" providerId="LiveId" clId="{A8CD0FD3-D25F-4BB8-8DBA-FA2E05336C71}" dt="2026-04-26T06:40:23.371" v="53" actId="478"/>
          <ac:spMkLst>
            <pc:docMk/>
            <pc:sldMk cId="320261700" sldId="268"/>
            <ac:spMk id="14" creationId="{178B0D0A-1881-34A7-4B2F-BDD324268C0D}"/>
          </ac:spMkLst>
        </pc:spChg>
        <pc:picChg chg="del">
          <ac:chgData name="Anupam Yadav" userId="abbe56797e629d9e" providerId="LiveId" clId="{A8CD0FD3-D25F-4BB8-8DBA-FA2E05336C71}" dt="2026-04-26T06:40:16.453" v="50" actId="478"/>
          <ac:picMkLst>
            <pc:docMk/>
            <pc:sldMk cId="320261700" sldId="268"/>
            <ac:picMk id="10" creationId="{208B1787-4B7B-0D78-86CC-BB90FBFE22DB}"/>
          </ac:picMkLst>
        </pc:picChg>
        <pc:picChg chg="del">
          <ac:chgData name="Anupam Yadav" userId="abbe56797e629d9e" providerId="LiveId" clId="{A8CD0FD3-D25F-4BB8-8DBA-FA2E05336C71}" dt="2026-04-26T06:40:21.242" v="52" actId="478"/>
          <ac:picMkLst>
            <pc:docMk/>
            <pc:sldMk cId="320261700" sldId="268"/>
            <ac:picMk id="12" creationId="{7789FD80-6C08-1E2A-D651-5F5F15FA23A6}"/>
          </ac:picMkLst>
        </pc:picChg>
      </pc:sldChg>
      <pc:sldChg chg="addSp delSp modSp add mod ord">
        <pc:chgData name="Anupam Yadav" userId="abbe56797e629d9e" providerId="LiveId" clId="{A8CD0FD3-D25F-4BB8-8DBA-FA2E05336C71}" dt="2026-04-26T06:54:36.467" v="201" actId="20577"/>
        <pc:sldMkLst>
          <pc:docMk/>
          <pc:sldMk cId="2180368359" sldId="269"/>
        </pc:sldMkLst>
        <pc:spChg chg="add mod">
          <ac:chgData name="Anupam Yadav" userId="abbe56797e629d9e" providerId="LiveId" clId="{A8CD0FD3-D25F-4BB8-8DBA-FA2E05336C71}" dt="2026-04-26T06:54:36.467" v="201" actId="20577"/>
          <ac:spMkLst>
            <pc:docMk/>
            <pc:sldMk cId="2180368359" sldId="269"/>
            <ac:spMk id="2" creationId="{53B2E403-93CB-7CAD-85E2-AEE3915A8720}"/>
          </ac:spMkLst>
        </pc:spChg>
        <pc:spChg chg="del mod">
          <ac:chgData name="Anupam Yadav" userId="abbe56797e629d9e" providerId="LiveId" clId="{A8CD0FD3-D25F-4BB8-8DBA-FA2E05336C71}" dt="2026-04-26T06:43:05.508" v="62" actId="478"/>
          <ac:spMkLst>
            <pc:docMk/>
            <pc:sldMk cId="2180368359" sldId="269"/>
            <ac:spMk id="13" creationId="{1CB4E8A5-8AF9-7175-08AC-164A05D38EE4}"/>
          </ac:spMkLst>
        </pc:spChg>
        <pc:spChg chg="del">
          <ac:chgData name="Anupam Yadav" userId="abbe56797e629d9e" providerId="LiveId" clId="{A8CD0FD3-D25F-4BB8-8DBA-FA2E05336C71}" dt="2026-04-26T06:43:12.379" v="65" actId="478"/>
          <ac:spMkLst>
            <pc:docMk/>
            <pc:sldMk cId="2180368359" sldId="269"/>
            <ac:spMk id="14" creationId="{0F0B3FA5-3318-C653-CB3D-4AC361B432A7}"/>
          </ac:spMkLst>
        </pc:spChg>
        <pc:picChg chg="del">
          <ac:chgData name="Anupam Yadav" userId="abbe56797e629d9e" providerId="LiveId" clId="{A8CD0FD3-D25F-4BB8-8DBA-FA2E05336C71}" dt="2026-04-26T06:43:08.033" v="63" actId="478"/>
          <ac:picMkLst>
            <pc:docMk/>
            <pc:sldMk cId="2180368359" sldId="269"/>
            <ac:picMk id="10" creationId="{8216C2DA-CD40-0EE3-688C-8F9539E1532B}"/>
          </ac:picMkLst>
        </pc:picChg>
        <pc:picChg chg="del">
          <ac:chgData name="Anupam Yadav" userId="abbe56797e629d9e" providerId="LiveId" clId="{A8CD0FD3-D25F-4BB8-8DBA-FA2E05336C71}" dt="2026-04-26T06:43:09.534" v="64" actId="478"/>
          <ac:picMkLst>
            <pc:docMk/>
            <pc:sldMk cId="2180368359" sldId="269"/>
            <ac:picMk id="12" creationId="{BEEFB4C0-5B4E-B025-1A83-B88BC45EAEFE}"/>
          </ac:picMkLst>
        </pc:picChg>
      </pc:sldChg>
      <pc:sldChg chg="modSp add mod">
        <pc:chgData name="Anupam Yadav" userId="abbe56797e629d9e" providerId="LiveId" clId="{A8CD0FD3-D25F-4BB8-8DBA-FA2E05336C71}" dt="2026-04-26T06:53:55.720" v="145" actId="255"/>
        <pc:sldMkLst>
          <pc:docMk/>
          <pc:sldMk cId="580856196" sldId="270"/>
        </pc:sldMkLst>
        <pc:spChg chg="mod">
          <ac:chgData name="Anupam Yadav" userId="abbe56797e629d9e" providerId="LiveId" clId="{A8CD0FD3-D25F-4BB8-8DBA-FA2E05336C71}" dt="2026-04-26T06:53:55.720" v="145" actId="255"/>
          <ac:spMkLst>
            <pc:docMk/>
            <pc:sldMk cId="580856196" sldId="270"/>
            <ac:spMk id="2" creationId="{C63F2C08-AC1A-BB65-A9EC-CEF2265E3BC5}"/>
          </ac:spMkLst>
        </pc:spChg>
      </pc:sldChg>
      <pc:sldChg chg="modSp add mod ord">
        <pc:chgData name="Anupam Yadav" userId="abbe56797e629d9e" providerId="LiveId" clId="{A8CD0FD3-D25F-4BB8-8DBA-FA2E05336C71}" dt="2026-04-26T06:58:06.311" v="245" actId="20577"/>
        <pc:sldMkLst>
          <pc:docMk/>
          <pc:sldMk cId="3881951675" sldId="271"/>
        </pc:sldMkLst>
        <pc:spChg chg="mod">
          <ac:chgData name="Anupam Yadav" userId="abbe56797e629d9e" providerId="LiveId" clId="{A8CD0FD3-D25F-4BB8-8DBA-FA2E05336C71}" dt="2026-04-26T06:56:51.871" v="214" actId="2711"/>
          <ac:spMkLst>
            <pc:docMk/>
            <pc:sldMk cId="3881951675" sldId="271"/>
            <ac:spMk id="2" creationId="{6B70A369-C059-73B1-2D4A-6E845E70D6A8}"/>
          </ac:spMkLst>
        </pc:spChg>
        <pc:spChg chg="mod">
          <ac:chgData name="Anupam Yadav" userId="abbe56797e629d9e" providerId="LiveId" clId="{A8CD0FD3-D25F-4BB8-8DBA-FA2E05336C71}" dt="2026-04-26T06:58:06.311" v="245" actId="20577"/>
          <ac:spMkLst>
            <pc:docMk/>
            <pc:sldMk cId="3881951675" sldId="271"/>
            <ac:spMk id="5" creationId="{5554B4BB-4C20-D47C-6ED8-A9F2F2AB049B}"/>
          </ac:spMkLst>
        </pc:spChg>
      </pc:sldChg>
      <pc:sldChg chg="addSp delSp modSp add mod">
        <pc:chgData name="Anupam Yadav" userId="abbe56797e629d9e" providerId="LiveId" clId="{A8CD0FD3-D25F-4BB8-8DBA-FA2E05336C71}" dt="2026-04-27T08:01:34.939" v="276" actId="14100"/>
        <pc:sldMkLst>
          <pc:docMk/>
          <pc:sldMk cId="70030873" sldId="272"/>
        </pc:sldMkLst>
        <pc:spChg chg="mod">
          <ac:chgData name="Anupam Yadav" userId="abbe56797e629d9e" providerId="LiveId" clId="{A8CD0FD3-D25F-4BB8-8DBA-FA2E05336C71}" dt="2026-04-27T08:01:12.434" v="269" actId="1076"/>
          <ac:spMkLst>
            <pc:docMk/>
            <pc:sldMk cId="70030873" sldId="272"/>
            <ac:spMk id="2" creationId="{F834DAD7-73DD-CDC5-5B1A-AC3CEC8661DE}"/>
          </ac:spMkLst>
        </pc:spChg>
        <pc:spChg chg="del mod">
          <ac:chgData name="Anupam Yadav" userId="abbe56797e629d9e" providerId="LiveId" clId="{A8CD0FD3-D25F-4BB8-8DBA-FA2E05336C71}" dt="2026-04-27T08:00:15.775" v="265"/>
          <ac:spMkLst>
            <pc:docMk/>
            <pc:sldMk cId="70030873" sldId="272"/>
            <ac:spMk id="5" creationId="{C14A269F-660C-C8FB-FCB3-C0ADC2C3D525}"/>
          </ac:spMkLst>
        </pc:spChg>
        <pc:picChg chg="add del mod">
          <ac:chgData name="Anupam Yadav" userId="abbe56797e629d9e" providerId="LiveId" clId="{A8CD0FD3-D25F-4BB8-8DBA-FA2E05336C71}" dt="2026-04-27T08:01:15.182" v="270" actId="478"/>
          <ac:picMkLst>
            <pc:docMk/>
            <pc:sldMk cId="70030873" sldId="272"/>
            <ac:picMk id="4" creationId="{E81F6A40-0A41-FEBC-0591-4AA1ADE94513}"/>
          </ac:picMkLst>
        </pc:picChg>
        <pc:picChg chg="add del">
          <ac:chgData name="Anupam Yadav" userId="abbe56797e629d9e" providerId="LiveId" clId="{A8CD0FD3-D25F-4BB8-8DBA-FA2E05336C71}" dt="2026-04-27T08:01:07.547" v="267" actId="22"/>
          <ac:picMkLst>
            <pc:docMk/>
            <pc:sldMk cId="70030873" sldId="272"/>
            <ac:picMk id="7" creationId="{863CE7B1-FEB4-A82A-F80B-41819CE96B13}"/>
          </ac:picMkLst>
        </pc:picChg>
        <pc:picChg chg="add mod">
          <ac:chgData name="Anupam Yadav" userId="abbe56797e629d9e" providerId="LiveId" clId="{A8CD0FD3-D25F-4BB8-8DBA-FA2E05336C71}" dt="2026-04-27T08:01:34.939" v="276" actId="14100"/>
          <ac:picMkLst>
            <pc:docMk/>
            <pc:sldMk cId="70030873" sldId="272"/>
            <ac:picMk id="9" creationId="{EBDDA7B4-C925-4980-A883-0EA18C69444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09133D-0306-439F-A364-55E36BA6C91E}"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2052272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09133D-0306-439F-A364-55E36BA6C91E}"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858074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09133D-0306-439F-A364-55E36BA6C91E}"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1554918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09133D-0306-439F-A364-55E36BA6C91E}"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3130440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09133D-0306-439F-A364-55E36BA6C91E}" type="datetimeFigureOut">
              <a:rPr lang="en-IN" smtClean="0"/>
              <a:t>27-04-2026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149378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09133D-0306-439F-A364-55E36BA6C91E}" type="datetimeFigureOut">
              <a:rPr lang="en-IN" smtClean="0"/>
              <a:t>27-04-2026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2715068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09133D-0306-439F-A364-55E36BA6C91E}" type="datetimeFigureOut">
              <a:rPr lang="en-IN" smtClean="0"/>
              <a:t>27-04-2026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2430803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209133D-0306-439F-A364-55E36BA6C91E}"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124440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209133D-0306-439F-A364-55E36BA6C91E}"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4150101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09133D-0306-439F-A364-55E36BA6C91E}"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3531486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09133D-0306-439F-A364-55E36BA6C91E}"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80304C-3623-4DAE-B2A1-E3466BAD9699}" type="slidenum">
              <a:rPr lang="en-IN" smtClean="0"/>
              <a:t>‹#›</a:t>
            </a:fld>
            <a:endParaRPr lang="en-IN"/>
          </a:p>
        </p:txBody>
      </p:sp>
    </p:spTree>
    <p:extLst>
      <p:ext uri="{BB962C8B-B14F-4D97-AF65-F5344CB8AC3E}">
        <p14:creationId xmlns:p14="http://schemas.microsoft.com/office/powerpoint/2010/main" val="1214795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D209133D-0306-439F-A364-55E36BA6C91E}" type="datetimeFigureOut">
              <a:rPr lang="en-IN" smtClean="0"/>
              <a:t>27-04-2026</a:t>
            </a:fld>
            <a:endParaRPr lang="en-IN"/>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7F80304C-3623-4DAE-B2A1-E3466BAD9699}" type="slidenum">
              <a:rPr lang="en-IN" smtClean="0"/>
              <a:t>‹#›</a:t>
            </a:fld>
            <a:endParaRPr lang="en-IN"/>
          </a:p>
        </p:txBody>
      </p:sp>
    </p:spTree>
    <p:extLst>
      <p:ext uri="{BB962C8B-B14F-4D97-AF65-F5344CB8AC3E}">
        <p14:creationId xmlns:p14="http://schemas.microsoft.com/office/powerpoint/2010/main" val="21623091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CD06D-B134-8ECC-EA69-7AFD949792F3}"/>
              </a:ext>
            </a:extLst>
          </p:cNvPr>
          <p:cNvSpPr>
            <a:spLocks noGrp="1"/>
          </p:cNvSpPr>
          <p:nvPr>
            <p:ph type="ctrTitle"/>
          </p:nvPr>
        </p:nvSpPr>
        <p:spPr>
          <a:xfrm>
            <a:off x="1060847" y="581061"/>
            <a:ext cx="4736306" cy="690209"/>
          </a:xfrm>
        </p:spPr>
        <p:txBody>
          <a:bodyPr>
            <a:normAutofit/>
          </a:bodyPr>
          <a:lstStyle/>
          <a:p>
            <a:r>
              <a:rPr lang="en-US" sz="2800" b="1" dirty="0">
                <a:latin typeface="Times New Roman" panose="02020603050405020304" pitchFamily="18" charset="0"/>
                <a:cs typeface="Times New Roman" panose="02020603050405020304" pitchFamily="18" charset="0"/>
              </a:rPr>
              <a:t>REPORT</a:t>
            </a:r>
            <a:endParaRPr lang="en-IN" sz="2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D757B89-9CB5-EE6E-AB75-7E14A9BA472D}"/>
              </a:ext>
            </a:extLst>
          </p:cNvPr>
          <p:cNvSpPr>
            <a:spLocks noGrp="1"/>
          </p:cNvSpPr>
          <p:nvPr>
            <p:ph type="subTitle" idx="1"/>
          </p:nvPr>
        </p:nvSpPr>
        <p:spPr>
          <a:xfrm>
            <a:off x="1060847" y="1577348"/>
            <a:ext cx="4736306" cy="2391656"/>
          </a:xfrm>
        </p:spPr>
        <p:txBody>
          <a:bodyPr>
            <a:normAutofit/>
          </a:bodyPr>
          <a:lstStyle/>
          <a:p>
            <a:r>
              <a:rPr lang="en-US" sz="3200" b="1" dirty="0">
                <a:latin typeface="Times New Roman" panose="02020603050405020304" pitchFamily="18" charset="0"/>
                <a:cs typeface="Times New Roman" panose="02020603050405020304" pitchFamily="18" charset="0"/>
              </a:rPr>
              <a:t>IoT Based Soil Moisture Monitoring System</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Using NodeMCU(ESP32), Work WI and Adafruit IO Cloud</a:t>
            </a:r>
            <a:endParaRPr lang="en-IN" sz="3200"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D9FB1CBF-1D9A-D15C-E965-8D53BF199C1F}"/>
              </a:ext>
            </a:extLst>
          </p:cNvPr>
          <p:cNvSpPr txBox="1">
            <a:spLocks/>
          </p:cNvSpPr>
          <p:nvPr/>
        </p:nvSpPr>
        <p:spPr>
          <a:xfrm>
            <a:off x="4632186" y="8688330"/>
            <a:ext cx="1966733" cy="636609"/>
          </a:xfrm>
          <a:prstGeom prst="rect">
            <a:avLst/>
          </a:prstGeom>
        </p:spPr>
        <p:txBody>
          <a:bodyPr vert="horz" lIns="74295" tIns="37148" rIns="74295" bIns="37148"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IN" sz="1600" b="1" dirty="0">
                <a:latin typeface="Times New Roman" panose="02020603050405020304" pitchFamily="18" charset="0"/>
                <a:cs typeface="Times New Roman" panose="02020603050405020304" pitchFamily="18" charset="0"/>
              </a:rPr>
              <a:t>By: Anupam Yadav</a:t>
            </a:r>
          </a:p>
          <a:p>
            <a:r>
              <a:rPr lang="en-IN" sz="1600" b="1" dirty="0">
                <a:latin typeface="Times New Roman" panose="02020603050405020304" pitchFamily="18" charset="0"/>
                <a:cs typeface="Times New Roman" panose="02020603050405020304" pitchFamily="18" charset="0"/>
              </a:rPr>
              <a:t>Roll no: 5638</a:t>
            </a:r>
          </a:p>
          <a:p>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2804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FA886-0702-6E72-7D92-5F3E28270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750E8-E196-F63E-4FC4-F8693240EA5C}"/>
              </a:ext>
            </a:extLst>
          </p:cNvPr>
          <p:cNvSpPr>
            <a:spLocks noGrp="1"/>
          </p:cNvSpPr>
          <p:nvPr>
            <p:ph type="ctrTitle"/>
          </p:nvPr>
        </p:nvSpPr>
        <p:spPr>
          <a:xfrm>
            <a:off x="411480" y="581061"/>
            <a:ext cx="5989319" cy="690209"/>
          </a:xfrm>
        </p:spPr>
        <p:txBody>
          <a:bodyPr>
            <a:normAutofit/>
          </a:bodyPr>
          <a:lstStyle/>
          <a:p>
            <a:r>
              <a:rPr lang="en-US" sz="2800" b="1" dirty="0">
                <a:latin typeface="Times New Roman" panose="02020603050405020304" pitchFamily="18" charset="0"/>
                <a:cs typeface="Times New Roman" panose="02020603050405020304" pitchFamily="18" charset="0"/>
              </a:rPr>
              <a:t>Abstract</a:t>
            </a:r>
            <a:endParaRPr lang="en-IN" sz="2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1CB9896-0CB0-132A-FF49-07C12F407D9F}"/>
              </a:ext>
            </a:extLst>
          </p:cNvPr>
          <p:cNvSpPr>
            <a:spLocks noGrp="1"/>
          </p:cNvSpPr>
          <p:nvPr>
            <p:ph type="subTitle" idx="1"/>
          </p:nvPr>
        </p:nvSpPr>
        <p:spPr>
          <a:xfrm>
            <a:off x="411480" y="1417320"/>
            <a:ext cx="5989319" cy="3429000"/>
          </a:xfrm>
        </p:spPr>
        <p:txBody>
          <a:bodyPr>
            <a:noAutofit/>
          </a:bodyPr>
          <a:lstStyle/>
          <a:p>
            <a:pPr algn="just"/>
            <a:r>
              <a:rPr lang="en-IN" dirty="0">
                <a:latin typeface="Times New Roman" panose="02020603050405020304" pitchFamily="18" charset="0"/>
                <a:cs typeface="Times New Roman" panose="02020603050405020304" pitchFamily="18" charset="0"/>
              </a:rPr>
              <a:t>The MQTT-based soil moisture monitoring system is an Internet of Things (IoT) solution designed to monitor soil moisture levels remotely using the ESP32 microcontroller and a soil moisture sensor. The ESP32 reads </a:t>
            </a:r>
            <a:r>
              <a:rPr lang="en-IN" dirty="0" err="1">
                <a:latin typeface="Times New Roman" panose="02020603050405020304" pitchFamily="18" charset="0"/>
                <a:cs typeface="Times New Roman" panose="02020603050405020304" pitchFamily="18" charset="0"/>
              </a:rPr>
              <a:t>analog</a:t>
            </a:r>
            <a:r>
              <a:rPr lang="en-IN" dirty="0">
                <a:latin typeface="Times New Roman" panose="02020603050405020304" pitchFamily="18" charset="0"/>
                <a:cs typeface="Times New Roman" panose="02020603050405020304" pitchFamily="18" charset="0"/>
              </a:rPr>
              <a:t> moisture values and transmits the data to the Adafruit IO cloud platform using the MQTT protocol over Wi-Fi. The system also provides local indication through an LED when soil becomes dry. This project enables real-time monitoring, remote accessibility, and efficient irrigation management. It demonstrates low-cost smart agriculture using IoT technologies.</a:t>
            </a:r>
          </a:p>
        </p:txBody>
      </p:sp>
    </p:spTree>
    <p:extLst>
      <p:ext uri="{BB962C8B-B14F-4D97-AF65-F5344CB8AC3E}">
        <p14:creationId xmlns:p14="http://schemas.microsoft.com/office/powerpoint/2010/main" val="217972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C1C2A-74E5-BD4F-BEE1-BA75FF807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3D702-7E39-1E0A-FA62-F67869450B82}"/>
              </a:ext>
            </a:extLst>
          </p:cNvPr>
          <p:cNvSpPr>
            <a:spLocks noGrp="1"/>
          </p:cNvSpPr>
          <p:nvPr>
            <p:ph type="ctrTitle"/>
          </p:nvPr>
        </p:nvSpPr>
        <p:spPr>
          <a:xfrm>
            <a:off x="411480" y="581061"/>
            <a:ext cx="5989319" cy="690209"/>
          </a:xfrm>
        </p:spPr>
        <p:txBody>
          <a:bodyPr>
            <a:normAutofit/>
          </a:bodyPr>
          <a:lstStyle/>
          <a:p>
            <a:r>
              <a:rPr lang="en-US" sz="2800" b="1" dirty="0">
                <a:latin typeface="Times New Roman" panose="02020603050405020304" pitchFamily="18" charset="0"/>
                <a:cs typeface="Times New Roman" panose="02020603050405020304" pitchFamily="18" charset="0"/>
              </a:rPr>
              <a:t>Introduction</a:t>
            </a:r>
          </a:p>
        </p:txBody>
      </p:sp>
      <p:sp>
        <p:nvSpPr>
          <p:cNvPr id="3" name="Subtitle 2">
            <a:extLst>
              <a:ext uri="{FF2B5EF4-FFF2-40B4-BE49-F238E27FC236}">
                <a16:creationId xmlns:a16="http://schemas.microsoft.com/office/drawing/2014/main" id="{6D8785CC-D232-721D-012A-7270F988391F}"/>
              </a:ext>
            </a:extLst>
          </p:cNvPr>
          <p:cNvSpPr>
            <a:spLocks noGrp="1"/>
          </p:cNvSpPr>
          <p:nvPr>
            <p:ph type="subTitle" idx="1"/>
          </p:nvPr>
        </p:nvSpPr>
        <p:spPr>
          <a:xfrm>
            <a:off x="411480" y="1417320"/>
            <a:ext cx="5989319" cy="5013960"/>
          </a:xfrm>
        </p:spPr>
        <p:txBody>
          <a:bodyPr>
            <a:noAutofit/>
          </a:bodyPr>
          <a:lstStyle/>
          <a:p>
            <a:pPr algn="just"/>
            <a:r>
              <a:rPr lang="en-US" dirty="0">
                <a:latin typeface="Times New Roman" panose="02020603050405020304" pitchFamily="18" charset="0"/>
                <a:cs typeface="Times New Roman" panose="02020603050405020304" pitchFamily="18" charset="0"/>
              </a:rPr>
              <a:t>The Internet of Things (IoT) enables physical devices to collect and exchange data over the internet. Cloud platforms play an important role in IoT systems by storing, analyzing, and visualizing data in real time.</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this project, an ESP32 microcontroller is used to collect soil moisture data from a analog sensor and send it to Adafruit IO Cloud using the MQTT protocol. The data is visualized using real-time time-series charts on the cloud dashboard. An LED is indication when the soil becomes dry.</a:t>
            </a:r>
          </a:p>
          <a:p>
            <a:pPr algn="just"/>
            <a:endParaRPr lang="en-IN" dirty="0">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To interface a soil moisture sensor with ESP32</a:t>
            </a:r>
            <a:endParaRPr lang="en-IN"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To connect ESP32 to </a:t>
            </a:r>
            <a:r>
              <a:rPr lang="en-US" dirty="0" err="1">
                <a:latin typeface="Times New Roman" panose="02020603050405020304" pitchFamily="18" charset="0"/>
                <a:cs typeface="Times New Roman" panose="02020603050405020304" pitchFamily="18" charset="0"/>
              </a:rPr>
              <a:t>WiFi</a:t>
            </a:r>
            <a:endParaRPr lang="en-IN"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To send sensor data to Adafruit IO using MQTT</a:t>
            </a:r>
            <a:endParaRPr lang="en-IN"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To indicate dry soil condition using an LED</a:t>
            </a:r>
            <a:endParaRPr lang="en-IN"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To monitor real-time soil data remotely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0451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A0FCF-F1DA-D5B4-882A-E7F40B506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A97DA-7DB5-D696-4BE4-7BB172137951}"/>
              </a:ext>
            </a:extLst>
          </p:cNvPr>
          <p:cNvSpPr>
            <a:spLocks noGrp="1"/>
          </p:cNvSpPr>
          <p:nvPr>
            <p:ph type="ctrTitle"/>
          </p:nvPr>
        </p:nvSpPr>
        <p:spPr>
          <a:xfrm>
            <a:off x="411480" y="581061"/>
            <a:ext cx="5989319" cy="690209"/>
          </a:xfrm>
        </p:spPr>
        <p:txBody>
          <a:bodyPr>
            <a:normAutofit/>
          </a:bodyPr>
          <a:lstStyle/>
          <a:p>
            <a:r>
              <a:rPr lang="en-IN" sz="2800" b="1" dirty="0">
                <a:latin typeface="Times New Roman" panose="02020603050405020304" pitchFamily="18" charset="0"/>
                <a:cs typeface="Times New Roman" panose="02020603050405020304" pitchFamily="18" charset="0"/>
              </a:rPr>
              <a:t>About </a:t>
            </a:r>
            <a:r>
              <a:rPr lang="en-IN" sz="2800" b="1" dirty="0" err="1">
                <a:latin typeface="Times New Roman" panose="02020603050405020304" pitchFamily="18" charset="0"/>
                <a:cs typeface="Times New Roman" panose="02020603050405020304" pitchFamily="18" charset="0"/>
              </a:rPr>
              <a:t>ThingsBoard</a:t>
            </a:r>
            <a:r>
              <a:rPr lang="en-IN" sz="2800" b="1" dirty="0">
                <a:latin typeface="Times New Roman" panose="02020603050405020304" pitchFamily="18" charset="0"/>
                <a:cs typeface="Times New Roman" panose="02020603050405020304" pitchFamily="18" charset="0"/>
              </a:rPr>
              <a:t> Cloud</a:t>
            </a:r>
          </a:p>
        </p:txBody>
      </p:sp>
      <p:sp>
        <p:nvSpPr>
          <p:cNvPr id="3" name="Subtitle 2">
            <a:extLst>
              <a:ext uri="{FF2B5EF4-FFF2-40B4-BE49-F238E27FC236}">
                <a16:creationId xmlns:a16="http://schemas.microsoft.com/office/drawing/2014/main" id="{F905F5AD-9039-B127-EDE6-141AAC7AC7DD}"/>
              </a:ext>
            </a:extLst>
          </p:cNvPr>
          <p:cNvSpPr>
            <a:spLocks noGrp="1"/>
          </p:cNvSpPr>
          <p:nvPr>
            <p:ph type="subTitle" idx="1"/>
          </p:nvPr>
        </p:nvSpPr>
        <p:spPr>
          <a:xfrm>
            <a:off x="411480" y="1417320"/>
            <a:ext cx="5989319" cy="6964680"/>
          </a:xfrm>
        </p:spPr>
        <p:txBody>
          <a:bodyPr>
            <a:noAutofit/>
          </a:bodyPr>
          <a:lstStyle/>
          <a:p>
            <a:pPr algn="just"/>
            <a:r>
              <a:rPr lang="en-IN" dirty="0" err="1">
                <a:latin typeface="Times New Roman" panose="02020603050405020304" pitchFamily="18" charset="0"/>
                <a:cs typeface="Times New Roman" panose="02020603050405020304" pitchFamily="18" charset="0"/>
              </a:rPr>
              <a:t>ThingsBoard</a:t>
            </a:r>
            <a:r>
              <a:rPr lang="en-IN" dirty="0">
                <a:latin typeface="Times New Roman" panose="02020603050405020304" pitchFamily="18" charset="0"/>
                <a:cs typeface="Times New Roman" panose="02020603050405020304" pitchFamily="18" charset="0"/>
              </a:rPr>
              <a:t> Cloud is an open-source IoT cloud platform that allows:</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Device management</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data visualization</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Telemetry storage</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Dashboard creation</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Rule engine and alarm system</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MQTT/HTTP protocol support</a:t>
            </a:r>
          </a:p>
          <a:p>
            <a:pPr algn="just"/>
            <a:r>
              <a:rPr lang="en-IN" dirty="0">
                <a:latin typeface="Times New Roman" panose="02020603050405020304" pitchFamily="18" charset="0"/>
                <a:cs typeface="Times New Roman" panose="02020603050405020304" pitchFamily="18" charset="0"/>
              </a:rPr>
              <a:t>In this project, </a:t>
            </a:r>
            <a:r>
              <a:rPr lang="en-IN" dirty="0" err="1">
                <a:latin typeface="Times New Roman" panose="02020603050405020304" pitchFamily="18" charset="0"/>
                <a:cs typeface="Times New Roman" panose="02020603050405020304" pitchFamily="18" charset="0"/>
              </a:rPr>
              <a:t>ThingsBoard</a:t>
            </a:r>
            <a:r>
              <a:rPr lang="en-IN" dirty="0">
                <a:latin typeface="Times New Roman" panose="02020603050405020304" pitchFamily="18" charset="0"/>
                <a:cs typeface="Times New Roman" panose="02020603050405020304" pitchFamily="18" charset="0"/>
              </a:rPr>
              <a:t> Cloud is used to:</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Register the ESP32 as a device</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an Access Token</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Receive telemetry data (temperature &amp; humidity)</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 data using time-series charts</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Store historical data</a:t>
            </a:r>
          </a:p>
          <a:p>
            <a:pPr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l"/>
            <a:r>
              <a:rPr lang="en-IN" dirty="0">
                <a:latin typeface="Times New Roman" panose="02020603050405020304" pitchFamily="18" charset="0"/>
                <a:cs typeface="Times New Roman" panose="02020603050405020304" pitchFamily="18" charset="0"/>
              </a:rPr>
              <a:t>The device sends data using:</a:t>
            </a:r>
          </a:p>
          <a:p>
            <a:pPr algn="l"/>
            <a:r>
              <a:rPr lang="en-IN" dirty="0">
                <a:latin typeface="Courier New" panose="02070309020205020404" pitchFamily="49" charset="0"/>
                <a:cs typeface="Courier New" panose="02070309020205020404" pitchFamily="49" charset="0"/>
              </a:rPr>
              <a:t>MQTT Broker: </a:t>
            </a:r>
            <a:r>
              <a:rPr lang="en-IN" dirty="0" err="1">
                <a:latin typeface="Courier New" panose="02070309020205020404" pitchFamily="49" charset="0"/>
                <a:cs typeface="Courier New" panose="02070309020205020404" pitchFamily="49" charset="0"/>
              </a:rPr>
              <a:t>mqtt.thingsboard.cloud</a:t>
            </a:r>
            <a:br>
              <a:rPr lang="en-IN" dirty="0">
                <a:latin typeface="Courier New" panose="02070309020205020404" pitchFamily="49" charset="0"/>
                <a:cs typeface="Courier New" panose="02070309020205020404" pitchFamily="49" charset="0"/>
              </a:rPr>
            </a:br>
            <a:r>
              <a:rPr lang="en-IN" dirty="0">
                <a:latin typeface="Courier New" panose="02070309020205020404" pitchFamily="49" charset="0"/>
                <a:cs typeface="Courier New" panose="02070309020205020404" pitchFamily="49" charset="0"/>
              </a:rPr>
              <a:t>Port: 1883</a:t>
            </a:r>
            <a:br>
              <a:rPr lang="en-IN" dirty="0">
                <a:latin typeface="Courier New" panose="02070309020205020404" pitchFamily="49" charset="0"/>
                <a:cs typeface="Courier New" panose="02070309020205020404" pitchFamily="49" charset="0"/>
              </a:rPr>
            </a:br>
            <a:r>
              <a:rPr lang="en-IN" dirty="0">
                <a:latin typeface="Courier New" panose="02070309020205020404" pitchFamily="49" charset="0"/>
                <a:cs typeface="Courier New" panose="02070309020205020404" pitchFamily="49" charset="0"/>
              </a:rPr>
              <a:t>Topic: v1/devices/me/telemetry</a:t>
            </a:r>
            <a:br>
              <a:rPr lang="en-IN" dirty="0">
                <a:latin typeface="Courier New" panose="02070309020205020404" pitchFamily="49" charset="0"/>
                <a:cs typeface="Courier New" panose="02070309020205020404" pitchFamily="49" charset="0"/>
              </a:rPr>
            </a:br>
            <a:r>
              <a:rPr lang="en-IN" dirty="0">
                <a:latin typeface="Courier New" panose="02070309020205020404" pitchFamily="49" charset="0"/>
                <a:cs typeface="Courier New" panose="02070309020205020404" pitchFamily="49" charset="0"/>
              </a:rPr>
              <a:t>Authentication: Access Token</a:t>
            </a:r>
          </a:p>
        </p:txBody>
      </p:sp>
    </p:spTree>
    <p:extLst>
      <p:ext uri="{BB962C8B-B14F-4D97-AF65-F5344CB8AC3E}">
        <p14:creationId xmlns:p14="http://schemas.microsoft.com/office/powerpoint/2010/main" val="4055085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86134-82D7-7941-D584-BD535EA45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BA954-2CED-0E94-60D9-A7FB3D558C1A}"/>
              </a:ext>
            </a:extLst>
          </p:cNvPr>
          <p:cNvSpPr>
            <a:spLocks noGrp="1"/>
          </p:cNvSpPr>
          <p:nvPr>
            <p:ph type="ctrTitle"/>
          </p:nvPr>
        </p:nvSpPr>
        <p:spPr>
          <a:xfrm>
            <a:off x="411480" y="581061"/>
            <a:ext cx="5989319" cy="690209"/>
          </a:xfrm>
        </p:spPr>
        <p:txBody>
          <a:bodyPr>
            <a:normAutofit/>
          </a:bodyPr>
          <a:lstStyle/>
          <a:p>
            <a:r>
              <a:rPr lang="en-IN" sz="2800" b="1" dirty="0">
                <a:latin typeface="Times New Roman" panose="02020603050405020304" pitchFamily="18" charset="0"/>
                <a:cs typeface="Times New Roman" panose="02020603050405020304" pitchFamily="18" charset="0"/>
              </a:rPr>
              <a:t>System Architecture</a:t>
            </a:r>
          </a:p>
        </p:txBody>
      </p:sp>
      <p:sp>
        <p:nvSpPr>
          <p:cNvPr id="4" name="Subtitle 3">
            <a:extLst>
              <a:ext uri="{FF2B5EF4-FFF2-40B4-BE49-F238E27FC236}">
                <a16:creationId xmlns:a16="http://schemas.microsoft.com/office/drawing/2014/main" id="{AFA6C4AD-2294-0E06-A149-76CD4AC33609}"/>
              </a:ext>
            </a:extLst>
          </p:cNvPr>
          <p:cNvSpPr txBox="1">
            <a:spLocks noGrp="1"/>
          </p:cNvSpPr>
          <p:nvPr>
            <p:ph type="subTitle" idx="1"/>
          </p:nvPr>
        </p:nvSpPr>
        <p:spPr>
          <a:xfrm>
            <a:off x="411163" y="1417638"/>
            <a:ext cx="5989637" cy="2350387"/>
          </a:xfrm>
          <a:prstGeom prst="rect">
            <a:avLst/>
          </a:prstGeom>
          <a:noFill/>
        </p:spPr>
        <p:txBody>
          <a:bodyPr wrap="square">
            <a:spAutoFit/>
          </a:bodyPr>
          <a:lstStyle/>
          <a:p>
            <a:pPr algn="l"/>
            <a:r>
              <a:rPr lang="en-IN" dirty="0">
                <a:latin typeface="Times New Roman" panose="02020603050405020304" pitchFamily="18" charset="0"/>
                <a:cs typeface="Times New Roman" panose="02020603050405020304" pitchFamily="18" charset="0"/>
              </a:rPr>
              <a:t>The system consists of three main layers:</a:t>
            </a:r>
          </a:p>
          <a:p>
            <a:pPr marL="342900" indent="-342900" algn="l">
              <a:buFont typeface="+mj-lt"/>
              <a:buAutoNum type="arabicPeriod"/>
            </a:pPr>
            <a:r>
              <a:rPr lang="en-IN" b="1" dirty="0">
                <a:latin typeface="Times New Roman" panose="02020603050405020304" pitchFamily="18" charset="0"/>
                <a:cs typeface="Times New Roman" panose="02020603050405020304" pitchFamily="18" charset="0"/>
              </a:rPr>
              <a:t>Device Layer</a:t>
            </a:r>
            <a:r>
              <a:rPr lang="en-IN" dirty="0">
                <a:latin typeface="Times New Roman" panose="02020603050405020304" pitchFamily="18" charset="0"/>
                <a:cs typeface="Times New Roman" panose="02020603050405020304" pitchFamily="18" charset="0"/>
              </a:rPr>
              <a:t> – Soil Moisture Sensor + ESP32</a:t>
            </a:r>
          </a:p>
          <a:p>
            <a:pPr marL="342900" indent="-342900" algn="l">
              <a:buFont typeface="+mj-lt"/>
              <a:buAutoNum type="arabicPeriod"/>
            </a:pPr>
            <a:r>
              <a:rPr lang="en-IN" b="1" dirty="0">
                <a:latin typeface="Times New Roman" panose="02020603050405020304" pitchFamily="18" charset="0"/>
                <a:cs typeface="Times New Roman" panose="02020603050405020304" pitchFamily="18" charset="0"/>
              </a:rPr>
              <a:t>Communication Layer</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WiFi</a:t>
            </a:r>
            <a:r>
              <a:rPr lang="en-IN" dirty="0">
                <a:latin typeface="Times New Roman" panose="02020603050405020304" pitchFamily="18" charset="0"/>
                <a:cs typeface="Times New Roman" panose="02020603050405020304" pitchFamily="18" charset="0"/>
              </a:rPr>
              <a:t> + MQTT + TCP/IP</a:t>
            </a:r>
          </a:p>
          <a:p>
            <a:pPr marL="342900" indent="-342900" algn="l">
              <a:buFont typeface="+mj-lt"/>
              <a:buAutoNum type="arabicPeriod"/>
            </a:pPr>
            <a:r>
              <a:rPr lang="en-IN" b="1" dirty="0">
                <a:latin typeface="Times New Roman" panose="02020603050405020304" pitchFamily="18" charset="0"/>
                <a:cs typeface="Times New Roman" panose="02020603050405020304" pitchFamily="18" charset="0"/>
              </a:rPr>
              <a:t>Cloud Layer</a:t>
            </a:r>
            <a:r>
              <a:rPr lang="en-IN" dirty="0">
                <a:latin typeface="Times New Roman" panose="02020603050405020304" pitchFamily="18" charset="0"/>
                <a:cs typeface="Times New Roman" panose="02020603050405020304" pitchFamily="18" charset="0"/>
              </a:rPr>
              <a:t> – Adafruit IO Cloud Dashboard</a:t>
            </a:r>
          </a:p>
          <a:p>
            <a:pPr algn="l"/>
            <a:r>
              <a:rPr lang="en-IN" b="1" dirty="0">
                <a:latin typeface="Times New Roman" panose="02020603050405020304" pitchFamily="18" charset="0"/>
                <a:cs typeface="Times New Roman" panose="02020603050405020304" pitchFamily="18" charset="0"/>
              </a:rPr>
              <a:t>Architecture Flow:</a:t>
            </a:r>
            <a:endParaRPr lang="en-IN" dirty="0">
              <a:latin typeface="Times New Roman" panose="02020603050405020304" pitchFamily="18" charset="0"/>
              <a:cs typeface="Times New Roman" panose="02020603050405020304" pitchFamily="18" charset="0"/>
            </a:endParaRPr>
          </a:p>
          <a:p>
            <a:pPr algn="l"/>
            <a:r>
              <a:rPr lang="en-IN" dirty="0">
                <a:latin typeface="Times New Roman" panose="02020603050405020304" pitchFamily="18" charset="0"/>
                <a:cs typeface="Times New Roman" panose="02020603050405020304" pitchFamily="18" charset="0"/>
              </a:rPr>
              <a:t>Soil Moisture Sensor → ESP32 → </a:t>
            </a:r>
            <a:r>
              <a:rPr lang="en-IN" dirty="0" err="1">
                <a:latin typeface="Times New Roman" panose="02020603050405020304" pitchFamily="18" charset="0"/>
                <a:cs typeface="Times New Roman" panose="02020603050405020304" pitchFamily="18" charset="0"/>
              </a:rPr>
              <a:t>WiFi</a:t>
            </a:r>
            <a:r>
              <a:rPr lang="en-IN" dirty="0">
                <a:latin typeface="Times New Roman" panose="02020603050405020304" pitchFamily="18" charset="0"/>
                <a:cs typeface="Times New Roman" panose="02020603050405020304" pitchFamily="18" charset="0"/>
              </a:rPr>
              <a:t> → Internet → Adafruit IO → Dashboard</a:t>
            </a:r>
          </a:p>
        </p:txBody>
      </p:sp>
      <p:pic>
        <p:nvPicPr>
          <p:cNvPr id="6" name="Picture 5">
            <a:extLst>
              <a:ext uri="{FF2B5EF4-FFF2-40B4-BE49-F238E27FC236}">
                <a16:creationId xmlns:a16="http://schemas.microsoft.com/office/drawing/2014/main" id="{1CA57738-8CB5-90EA-0FDA-6C363E502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133785"/>
            <a:ext cx="6858000" cy="3769468"/>
          </a:xfrm>
          <a:prstGeom prst="rect">
            <a:avLst/>
          </a:prstGeom>
        </p:spPr>
      </p:pic>
    </p:spTree>
    <p:extLst>
      <p:ext uri="{BB962C8B-B14F-4D97-AF65-F5344CB8AC3E}">
        <p14:creationId xmlns:p14="http://schemas.microsoft.com/office/powerpoint/2010/main" val="1018042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FA8EF-086E-E21E-64B3-C27F50DA2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DDF30-51F9-99A1-41F3-488A1CCEBF18}"/>
              </a:ext>
            </a:extLst>
          </p:cNvPr>
          <p:cNvSpPr>
            <a:spLocks noGrp="1"/>
          </p:cNvSpPr>
          <p:nvPr>
            <p:ph type="ctrTitle"/>
          </p:nvPr>
        </p:nvSpPr>
        <p:spPr>
          <a:xfrm>
            <a:off x="411480" y="581061"/>
            <a:ext cx="5989319" cy="690209"/>
          </a:xfrm>
        </p:spPr>
        <p:txBody>
          <a:bodyPr>
            <a:normAutofit/>
          </a:bodyPr>
          <a:lstStyle/>
          <a:p>
            <a:r>
              <a:rPr lang="en-US" sz="2800" b="1" dirty="0">
                <a:latin typeface="Times New Roman" panose="02020603050405020304" pitchFamily="18" charset="0"/>
                <a:cs typeface="Times New Roman" panose="02020603050405020304" pitchFamily="18" charset="0"/>
              </a:rPr>
              <a:t>Working of the System</a:t>
            </a:r>
          </a:p>
        </p:txBody>
      </p:sp>
      <p:sp>
        <p:nvSpPr>
          <p:cNvPr id="4" name="Subtitle 3">
            <a:extLst>
              <a:ext uri="{FF2B5EF4-FFF2-40B4-BE49-F238E27FC236}">
                <a16:creationId xmlns:a16="http://schemas.microsoft.com/office/drawing/2014/main" id="{A7E698FB-8B16-877A-CA17-F4D0883CFDC4}"/>
              </a:ext>
            </a:extLst>
          </p:cNvPr>
          <p:cNvSpPr txBox="1">
            <a:spLocks noGrp="1"/>
          </p:cNvSpPr>
          <p:nvPr>
            <p:ph type="subTitle" idx="1"/>
          </p:nvPr>
        </p:nvSpPr>
        <p:spPr>
          <a:xfrm>
            <a:off x="411163" y="1417638"/>
            <a:ext cx="5989637" cy="3699474"/>
          </a:xfrm>
          <a:prstGeom prst="rect">
            <a:avLst/>
          </a:prstGeom>
          <a:noFill/>
        </p:spPr>
        <p:txBody>
          <a:bodyPr wrap="square">
            <a:spAutoFit/>
          </a:bodyPr>
          <a:lstStyle/>
          <a:p>
            <a:pPr marL="342900" indent="-342900" algn="l">
              <a:buFont typeface="+mj-lt"/>
              <a:buAutoNum type="arabicPeriod"/>
            </a:pPr>
            <a:r>
              <a:rPr lang="en-US" dirty="0">
                <a:latin typeface="Times New Roman" panose="02020603050405020304" pitchFamily="18" charset="0"/>
                <a:cs typeface="Times New Roman" panose="02020603050405020304" pitchFamily="18" charset="0"/>
              </a:rPr>
              <a:t>The soil moisture sensor detects the moisture level present in the soil. </a:t>
            </a:r>
          </a:p>
          <a:p>
            <a:pPr marL="342900" indent="-342900" algn="l">
              <a:buFont typeface="+mj-lt"/>
              <a:buAutoNum type="arabicPeriod"/>
            </a:pPr>
            <a:r>
              <a:rPr lang="en-US" dirty="0">
                <a:latin typeface="Times New Roman" panose="02020603050405020304" pitchFamily="18" charset="0"/>
                <a:cs typeface="Times New Roman" panose="02020603050405020304" pitchFamily="18" charset="0"/>
              </a:rPr>
              <a:t>ESP32 reads the sensor data through the analog input pin. </a:t>
            </a:r>
          </a:p>
          <a:p>
            <a:pPr marL="342900" indent="-342900" algn="l">
              <a:buFont typeface="+mj-lt"/>
              <a:buAutoNum type="arabicPeriod"/>
            </a:pPr>
            <a:r>
              <a:rPr lang="en-US" dirty="0">
                <a:latin typeface="Times New Roman" panose="02020603050405020304" pitchFamily="18" charset="0"/>
                <a:cs typeface="Times New Roman" panose="02020603050405020304" pitchFamily="18" charset="0"/>
              </a:rPr>
              <a:t>The measured value is converted into JSON format for data transmission. </a:t>
            </a:r>
          </a:p>
          <a:p>
            <a:pPr marL="342900" indent="-342900" algn="l">
              <a:buFont typeface="+mj-lt"/>
              <a:buAutoNum type="arabicPeriod"/>
            </a:pPr>
            <a:r>
              <a:rPr lang="en-US" dirty="0">
                <a:latin typeface="Times New Roman" panose="02020603050405020304" pitchFamily="18" charset="0"/>
                <a:cs typeface="Times New Roman" panose="02020603050405020304" pitchFamily="18" charset="0"/>
              </a:rPr>
              <a:t>ESP32 connects to the local </a:t>
            </a:r>
            <a:r>
              <a:rPr lang="en-US" dirty="0" err="1">
                <a:latin typeface="Times New Roman" panose="02020603050405020304" pitchFamily="18" charset="0"/>
                <a:cs typeface="Times New Roman" panose="02020603050405020304" pitchFamily="18" charset="0"/>
              </a:rPr>
              <a:t>WiFi</a:t>
            </a:r>
            <a:r>
              <a:rPr lang="en-US" dirty="0">
                <a:latin typeface="Times New Roman" panose="02020603050405020304" pitchFamily="18" charset="0"/>
                <a:cs typeface="Times New Roman" panose="02020603050405020304" pitchFamily="18" charset="0"/>
              </a:rPr>
              <a:t> network. </a:t>
            </a:r>
          </a:p>
          <a:p>
            <a:pPr marL="342900" indent="-342900" algn="l">
              <a:buFont typeface="+mj-lt"/>
              <a:buAutoNum type="arabicPeriod"/>
            </a:pPr>
            <a:r>
              <a:rPr lang="en-US" dirty="0">
                <a:latin typeface="Times New Roman" panose="02020603050405020304" pitchFamily="18" charset="0"/>
                <a:cs typeface="Times New Roman" panose="02020603050405020304" pitchFamily="18" charset="0"/>
              </a:rPr>
              <a:t>Sensor data is published to Adafruit IO cloud using MQTT protocol. </a:t>
            </a:r>
          </a:p>
          <a:p>
            <a:pPr marL="342900" indent="-342900" algn="l">
              <a:buFont typeface="+mj-lt"/>
              <a:buAutoNum type="arabicPeriod"/>
            </a:pPr>
            <a:r>
              <a:rPr lang="en-US" dirty="0">
                <a:latin typeface="Times New Roman" panose="02020603050405020304" pitchFamily="18" charset="0"/>
                <a:cs typeface="Times New Roman" panose="02020603050405020304" pitchFamily="18" charset="0"/>
              </a:rPr>
              <a:t>Adafruit IO receives, stores, and processes the real-time data. </a:t>
            </a:r>
          </a:p>
          <a:p>
            <a:pPr marL="342900" indent="-342900" algn="l">
              <a:buFont typeface="+mj-lt"/>
              <a:buAutoNum type="arabicPeriod"/>
            </a:pPr>
            <a:r>
              <a:rPr lang="en-US" dirty="0">
                <a:latin typeface="Times New Roman" panose="02020603050405020304" pitchFamily="18" charset="0"/>
                <a:cs typeface="Times New Roman" panose="02020603050405020304" pitchFamily="18" charset="0"/>
              </a:rPr>
              <a:t>The dashboard displays live soil moisture values, and LED turns ON when soil becomes dry.</a:t>
            </a:r>
          </a:p>
        </p:txBody>
      </p:sp>
      <p:sp>
        <p:nvSpPr>
          <p:cNvPr id="3" name="TextBox 2">
            <a:extLst>
              <a:ext uri="{FF2B5EF4-FFF2-40B4-BE49-F238E27FC236}">
                <a16:creationId xmlns:a16="http://schemas.microsoft.com/office/drawing/2014/main" id="{F40DD22A-0C27-E4B0-9CFD-153A62E8D103}"/>
              </a:ext>
            </a:extLst>
          </p:cNvPr>
          <p:cNvSpPr txBox="1"/>
          <p:nvPr/>
        </p:nvSpPr>
        <p:spPr>
          <a:xfrm>
            <a:off x="411163" y="5263480"/>
            <a:ext cx="2675732"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Components Used:</a:t>
            </a:r>
          </a:p>
        </p:txBody>
      </p:sp>
      <p:graphicFrame>
        <p:nvGraphicFramePr>
          <p:cNvPr id="5" name="Table 4">
            <a:extLst>
              <a:ext uri="{FF2B5EF4-FFF2-40B4-BE49-F238E27FC236}">
                <a16:creationId xmlns:a16="http://schemas.microsoft.com/office/drawing/2014/main" id="{7237D775-F099-B23A-3C00-BB19ED6DBABF}"/>
              </a:ext>
            </a:extLst>
          </p:cNvPr>
          <p:cNvGraphicFramePr>
            <a:graphicFrameLocks noGrp="1"/>
          </p:cNvGraphicFramePr>
          <p:nvPr>
            <p:extLst>
              <p:ext uri="{D42A27DB-BD31-4B8C-83A1-F6EECF244321}">
                <p14:modId xmlns:p14="http://schemas.microsoft.com/office/powerpoint/2010/main" val="540201742"/>
              </p:ext>
            </p:extLst>
          </p:nvPr>
        </p:nvGraphicFramePr>
        <p:xfrm>
          <a:off x="579120" y="5725145"/>
          <a:ext cx="5699760" cy="3997960"/>
        </p:xfrm>
        <a:graphic>
          <a:graphicData uri="http://schemas.openxmlformats.org/drawingml/2006/table">
            <a:tbl>
              <a:tblPr firstRow="1" bandRow="1">
                <a:tableStyleId>{5940675A-B579-460E-94D1-54222C63F5DA}</a:tableStyleId>
              </a:tblPr>
              <a:tblGrid>
                <a:gridCol w="2849880">
                  <a:extLst>
                    <a:ext uri="{9D8B030D-6E8A-4147-A177-3AD203B41FA5}">
                      <a16:colId xmlns:a16="http://schemas.microsoft.com/office/drawing/2014/main" val="1852677165"/>
                    </a:ext>
                  </a:extLst>
                </a:gridCol>
                <a:gridCol w="2849880">
                  <a:extLst>
                    <a:ext uri="{9D8B030D-6E8A-4147-A177-3AD203B41FA5}">
                      <a16:colId xmlns:a16="http://schemas.microsoft.com/office/drawing/2014/main" val="2536929028"/>
                    </a:ext>
                  </a:extLst>
                </a:gridCol>
              </a:tblGrid>
              <a:tr h="370840">
                <a:tc>
                  <a:txBody>
                    <a:bodyPr/>
                    <a:lstStyle/>
                    <a:p>
                      <a:pPr algn="ctr"/>
                      <a:r>
                        <a:rPr lang="en-US" sz="1600" dirty="0">
                          <a:latin typeface="Times New Roman" panose="02020603050405020304" pitchFamily="18" charset="0"/>
                          <a:cs typeface="Times New Roman" panose="02020603050405020304" pitchFamily="18" charset="0"/>
                        </a:rPr>
                        <a:t>Components</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Description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1463030"/>
                  </a:ext>
                </a:extLst>
              </a:tr>
              <a:tr h="370840">
                <a:tc>
                  <a:txBody>
                    <a:bodyPr/>
                    <a:lstStyle/>
                    <a:p>
                      <a:pPr>
                        <a:buNone/>
                      </a:pPr>
                      <a:r>
                        <a:rPr lang="en-IN" sz="1600" dirty="0">
                          <a:latin typeface="Times New Roman" panose="02020603050405020304" pitchFamily="18" charset="0"/>
                          <a:cs typeface="Times New Roman" panose="02020603050405020304" pitchFamily="18" charset="0"/>
                        </a:rPr>
                        <a:t>ESP32</a:t>
                      </a:r>
                    </a:p>
                  </a:txBody>
                  <a:tcPr anchor="ctr"/>
                </a:tc>
                <a:tc>
                  <a:txBody>
                    <a:bodyPr/>
                    <a:lstStyle/>
                    <a:p>
                      <a:pPr>
                        <a:buNone/>
                      </a:pPr>
                      <a:r>
                        <a:rPr lang="en-IN" sz="1600" dirty="0" err="1">
                          <a:latin typeface="Times New Roman" panose="02020603050405020304" pitchFamily="18" charset="0"/>
                          <a:cs typeface="Times New Roman" panose="02020603050405020304" pitchFamily="18" charset="0"/>
                        </a:rPr>
                        <a:t>WiFi</a:t>
                      </a:r>
                      <a:r>
                        <a:rPr lang="en-IN" sz="1600" dirty="0">
                          <a:latin typeface="Times New Roman" panose="02020603050405020304" pitchFamily="18" charset="0"/>
                          <a:cs typeface="Times New Roman" panose="02020603050405020304" pitchFamily="18" charset="0"/>
                        </a:rPr>
                        <a:t>-enabled microcontroller</a:t>
                      </a:r>
                    </a:p>
                  </a:txBody>
                  <a:tcPr anchor="ctr"/>
                </a:tc>
                <a:extLst>
                  <a:ext uri="{0D108BD9-81ED-4DB2-BD59-A6C34878D82A}">
                    <a16:rowId xmlns:a16="http://schemas.microsoft.com/office/drawing/2014/main" val="1848233237"/>
                  </a:ext>
                </a:extLst>
              </a:tr>
              <a:tr h="370840">
                <a:tc>
                  <a:txBody>
                    <a:bodyPr/>
                    <a:lstStyle/>
                    <a:p>
                      <a:r>
                        <a:rPr lang="en-IN" sz="1600" dirty="0">
                          <a:latin typeface="Times New Roman" panose="02020603050405020304" pitchFamily="18" charset="0"/>
                          <a:cs typeface="Times New Roman" panose="02020603050405020304" pitchFamily="18" charset="0"/>
                        </a:rPr>
                        <a:t>Soil Moisture Sensor</a:t>
                      </a:r>
                    </a:p>
                  </a:txBody>
                  <a:tcPr/>
                </a:tc>
                <a:tc>
                  <a:txBody>
                    <a:bodyPr/>
                    <a:lstStyle/>
                    <a:p>
                      <a:r>
                        <a:rPr lang="en-US" sz="1600" dirty="0">
                          <a:latin typeface="Times New Roman" panose="02020603050405020304" pitchFamily="18" charset="0"/>
                          <a:cs typeface="Times New Roman" panose="02020603050405020304" pitchFamily="18" charset="0"/>
                        </a:rPr>
                        <a:t>Measures moisture level in soil</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559180"/>
                  </a:ext>
                </a:extLst>
              </a:tr>
              <a:tr h="370840">
                <a:tc>
                  <a:txBody>
                    <a:bodyPr/>
                    <a:lstStyle/>
                    <a:p>
                      <a:pPr>
                        <a:buNone/>
                      </a:pPr>
                      <a:r>
                        <a:rPr lang="en-IN" sz="1600" dirty="0">
                          <a:latin typeface="Times New Roman" panose="02020603050405020304" pitchFamily="18" charset="0"/>
                          <a:cs typeface="Times New Roman" panose="02020603050405020304" pitchFamily="18" charset="0"/>
                        </a:rPr>
                        <a:t>LED</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Output indicator</a:t>
                      </a:r>
                    </a:p>
                  </a:txBody>
                  <a:tcPr anchor="ctr"/>
                </a:tc>
                <a:extLst>
                  <a:ext uri="{0D108BD9-81ED-4DB2-BD59-A6C34878D82A}">
                    <a16:rowId xmlns:a16="http://schemas.microsoft.com/office/drawing/2014/main" val="1078643653"/>
                  </a:ext>
                </a:extLst>
              </a:tr>
              <a:tr h="370840">
                <a:tc>
                  <a:txBody>
                    <a:bodyPr/>
                    <a:lstStyle/>
                    <a:p>
                      <a:pPr>
                        <a:buNone/>
                      </a:pPr>
                      <a:r>
                        <a:rPr lang="el-GR" sz="1600" dirty="0">
                          <a:latin typeface="Times New Roman" panose="02020603050405020304" pitchFamily="18" charset="0"/>
                          <a:cs typeface="Times New Roman" panose="02020603050405020304" pitchFamily="18" charset="0"/>
                        </a:rPr>
                        <a:t>220Ω </a:t>
                      </a:r>
                      <a:r>
                        <a:rPr lang="en-IN" sz="1600" dirty="0">
                          <a:latin typeface="Times New Roman" panose="02020603050405020304" pitchFamily="18" charset="0"/>
                          <a:cs typeface="Times New Roman" panose="02020603050405020304" pitchFamily="18" charset="0"/>
                        </a:rPr>
                        <a:t>Resistor</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Current limiting</a:t>
                      </a:r>
                    </a:p>
                  </a:txBody>
                  <a:tcPr anchor="ctr"/>
                </a:tc>
                <a:extLst>
                  <a:ext uri="{0D108BD9-81ED-4DB2-BD59-A6C34878D82A}">
                    <a16:rowId xmlns:a16="http://schemas.microsoft.com/office/drawing/2014/main" val="4094010167"/>
                  </a:ext>
                </a:extLst>
              </a:tr>
              <a:tr h="370840">
                <a:tc>
                  <a:txBody>
                    <a:bodyPr/>
                    <a:lstStyle/>
                    <a:p>
                      <a:pPr>
                        <a:buNone/>
                      </a:pPr>
                      <a:r>
                        <a:rPr lang="en-IN" sz="1600">
                          <a:latin typeface="Times New Roman" panose="02020603050405020304" pitchFamily="18" charset="0"/>
                          <a:cs typeface="Times New Roman" panose="02020603050405020304" pitchFamily="18" charset="0"/>
                        </a:rPr>
                        <a:t>Wokwi</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Simulation environment</a:t>
                      </a:r>
                    </a:p>
                  </a:txBody>
                  <a:tcPr anchor="ctr"/>
                </a:tc>
                <a:extLst>
                  <a:ext uri="{0D108BD9-81ED-4DB2-BD59-A6C34878D82A}">
                    <a16:rowId xmlns:a16="http://schemas.microsoft.com/office/drawing/2014/main" val="4107959038"/>
                  </a:ext>
                </a:extLst>
              </a:tr>
              <a:tr h="370840">
                <a:tc>
                  <a:txBody>
                    <a:bodyPr/>
                    <a:lstStyle/>
                    <a:p>
                      <a:pPr>
                        <a:buNone/>
                      </a:pPr>
                      <a:r>
                        <a:rPr lang="en-IN" sz="1600" dirty="0">
                          <a:latin typeface="Times New Roman" panose="02020603050405020304" pitchFamily="18" charset="0"/>
                          <a:cs typeface="Times New Roman" panose="02020603050405020304" pitchFamily="18" charset="0"/>
                        </a:rPr>
                        <a:t>Adafruit IO Cloud</a:t>
                      </a: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Stores sensor data and displays dashboard</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84658686"/>
                  </a:ext>
                </a:extLst>
              </a:tr>
              <a:tr h="370840">
                <a:tc>
                  <a:txBody>
                    <a:bodyPr/>
                    <a:lstStyle/>
                    <a:p>
                      <a:pPr>
                        <a:buNone/>
                      </a:pPr>
                      <a:r>
                        <a:rPr lang="en-IN" sz="1600" dirty="0">
                          <a:latin typeface="Times New Roman" panose="02020603050405020304" pitchFamily="18" charset="0"/>
                          <a:cs typeface="Times New Roman" panose="02020603050405020304" pitchFamily="18" charset="0"/>
                        </a:rPr>
                        <a:t>USB Cable</a:t>
                      </a: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Powers ESP32 and uploads code</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85089813"/>
                  </a:ext>
                </a:extLst>
              </a:tr>
              <a:tr h="370840">
                <a:tc>
                  <a:txBody>
                    <a:bodyPr/>
                    <a:lstStyle/>
                    <a:p>
                      <a:pPr>
                        <a:buNone/>
                      </a:pPr>
                      <a:r>
                        <a:rPr lang="en-IN" sz="1600" dirty="0">
                          <a:latin typeface="Times New Roman" panose="02020603050405020304" pitchFamily="18" charset="0"/>
                          <a:cs typeface="Times New Roman" panose="02020603050405020304" pitchFamily="18" charset="0"/>
                        </a:rPr>
                        <a:t>Potentiometer</a:t>
                      </a: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Used to simulate soil moisture sensor input by varying analog values</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18943015"/>
                  </a:ext>
                </a:extLst>
              </a:tr>
            </a:tbl>
          </a:graphicData>
        </a:graphic>
      </p:graphicFrame>
    </p:spTree>
    <p:extLst>
      <p:ext uri="{BB962C8B-B14F-4D97-AF65-F5344CB8AC3E}">
        <p14:creationId xmlns:p14="http://schemas.microsoft.com/office/powerpoint/2010/main" val="2989198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ECA96-5A9F-99DC-C14E-19054CB79D9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3760426-AA2E-9714-2578-34F6C4A8A9ED}"/>
              </a:ext>
            </a:extLst>
          </p:cNvPr>
          <p:cNvPicPr/>
          <p:nvPr/>
        </p:nvPicPr>
        <p:blipFill>
          <a:blip r:embed="rId2"/>
          <a:stretch>
            <a:fillRect/>
          </a:stretch>
        </p:blipFill>
        <p:spPr>
          <a:xfrm>
            <a:off x="416719" y="4131569"/>
            <a:ext cx="5836920" cy="3942715"/>
          </a:xfrm>
          <a:prstGeom prst="rect">
            <a:avLst/>
          </a:prstGeom>
        </p:spPr>
      </p:pic>
      <p:sp>
        <p:nvSpPr>
          <p:cNvPr id="7" name="TextBox 6">
            <a:extLst>
              <a:ext uri="{FF2B5EF4-FFF2-40B4-BE49-F238E27FC236}">
                <a16:creationId xmlns:a16="http://schemas.microsoft.com/office/drawing/2014/main" id="{9FD51819-FFFC-2908-4E39-95AA5B79D054}"/>
              </a:ext>
            </a:extLst>
          </p:cNvPr>
          <p:cNvSpPr txBox="1"/>
          <p:nvPr/>
        </p:nvSpPr>
        <p:spPr>
          <a:xfrm>
            <a:off x="492919" y="1217751"/>
            <a:ext cx="5872162" cy="2585323"/>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Soil Moisture Sensor → ESP32</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VCC → 3.3V</a:t>
            </a:r>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GND → GND</a:t>
            </a:r>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AO → GPIO 34</a:t>
            </a:r>
            <a:endParaRPr lang="en-I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LED → ESP32</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Anode (+) → GPIO 2</a:t>
            </a:r>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Cathode (–) → GND (via resistor)</a:t>
            </a:r>
            <a:endParaRPr lang="en-I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Power </a:t>
            </a:r>
            <a:r>
              <a:rPr lang="en-IN"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ESP32 powered via USB</a:t>
            </a:r>
          </a:p>
        </p:txBody>
      </p:sp>
      <p:sp>
        <p:nvSpPr>
          <p:cNvPr id="8" name="Title 1">
            <a:extLst>
              <a:ext uri="{FF2B5EF4-FFF2-40B4-BE49-F238E27FC236}">
                <a16:creationId xmlns:a16="http://schemas.microsoft.com/office/drawing/2014/main" id="{ADFAFC0A-4449-4562-AFAD-C3F25ED77874}"/>
              </a:ext>
            </a:extLst>
          </p:cNvPr>
          <p:cNvSpPr>
            <a:spLocks noGrp="1"/>
          </p:cNvSpPr>
          <p:nvPr>
            <p:ph type="ctrTitle"/>
          </p:nvPr>
        </p:nvSpPr>
        <p:spPr>
          <a:xfrm>
            <a:off x="416719" y="319692"/>
            <a:ext cx="5989319" cy="690209"/>
          </a:xfrm>
        </p:spPr>
        <p:txBody>
          <a:bodyPr>
            <a:normAutofit/>
          </a:bodyPr>
          <a:lstStyle/>
          <a:p>
            <a:r>
              <a:rPr lang="en-IN" sz="2800" b="1" dirty="0">
                <a:latin typeface="Times New Roman" panose="02020603050405020304" pitchFamily="18" charset="0"/>
                <a:cs typeface="Times New Roman" panose="02020603050405020304" pitchFamily="18" charset="0"/>
              </a:rPr>
              <a:t>Circuit Design Explanation</a:t>
            </a:r>
          </a:p>
        </p:txBody>
      </p:sp>
    </p:spTree>
    <p:extLst>
      <p:ext uri="{BB962C8B-B14F-4D97-AF65-F5344CB8AC3E}">
        <p14:creationId xmlns:p14="http://schemas.microsoft.com/office/powerpoint/2010/main" val="10556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C6B2E-4ED6-B4D6-2C64-954AE1BFEE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70A369-C059-73B1-2D4A-6E845E70D6A8}"/>
              </a:ext>
            </a:extLst>
          </p:cNvPr>
          <p:cNvSpPr txBox="1"/>
          <p:nvPr/>
        </p:nvSpPr>
        <p:spPr>
          <a:xfrm>
            <a:off x="242887" y="300038"/>
            <a:ext cx="6165534"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Algorithm for MQTT Data Logging System : </a:t>
            </a:r>
          </a:p>
        </p:txBody>
      </p:sp>
      <p:sp>
        <p:nvSpPr>
          <p:cNvPr id="5" name="TextBox 4">
            <a:extLst>
              <a:ext uri="{FF2B5EF4-FFF2-40B4-BE49-F238E27FC236}">
                <a16:creationId xmlns:a16="http://schemas.microsoft.com/office/drawing/2014/main" id="{5554B4BB-4C20-D47C-6ED8-A9F2F2AB049B}"/>
              </a:ext>
            </a:extLst>
          </p:cNvPr>
          <p:cNvSpPr txBox="1"/>
          <p:nvPr/>
        </p:nvSpPr>
        <p:spPr>
          <a:xfrm>
            <a:off x="450056" y="953432"/>
            <a:ext cx="5957887" cy="6186309"/>
          </a:xfrm>
          <a:prstGeom prst="rect">
            <a:avLst/>
          </a:prstGeom>
          <a:noFill/>
        </p:spPr>
        <p:txBody>
          <a:bodyPr wrap="square" rtlCol="0">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Start the system.</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Initialize ESP32, serial monitor, LED pin, and analog input pin.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Connect ESP32 to the </a:t>
            </a:r>
            <a:r>
              <a:rPr lang="en-US" dirty="0" err="1">
                <a:latin typeface="Times New Roman" panose="02020603050405020304" pitchFamily="18" charset="0"/>
                <a:cs typeface="Times New Roman" panose="02020603050405020304" pitchFamily="18" charset="0"/>
              </a:rPr>
              <a:t>WiFi</a:t>
            </a:r>
            <a:r>
              <a:rPr lang="en-US" dirty="0">
                <a:latin typeface="Times New Roman" panose="02020603050405020304" pitchFamily="18" charset="0"/>
                <a:cs typeface="Times New Roman" panose="02020603050405020304" pitchFamily="18" charset="0"/>
              </a:rPr>
              <a:t> network using SSID and password.</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Establish connection with Adafruit IO MQTT broker using username and key.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Read analog value from potentiometer / soil moisture sensor.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Display the sensor value on the serial monitor.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Compare the sensor value with predefined threshold.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If value is greater than threshold, turn ON LED to indicate dry condition.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Otherwise, turn OFF LED to indicate normal moisture condition.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Convert the sensor value into string or JSON format.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Publish the data to Adafruit IO MQTT feed.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Dashboard receives and displays real-time data in graphs and gauges.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Wait for 10 seconds.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Repeat steps 5 to 13 continuously.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Stop only when power is disconnected.</a:t>
            </a:r>
          </a:p>
        </p:txBody>
      </p:sp>
    </p:spTree>
    <p:extLst>
      <p:ext uri="{BB962C8B-B14F-4D97-AF65-F5344CB8AC3E}">
        <p14:creationId xmlns:p14="http://schemas.microsoft.com/office/powerpoint/2010/main" val="3881951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220C6-551F-0C8B-4A7C-6C92B2D0EC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34DAD7-73DD-CDC5-5B1A-AC3CEC8661DE}"/>
              </a:ext>
            </a:extLst>
          </p:cNvPr>
          <p:cNvSpPr txBox="1"/>
          <p:nvPr/>
        </p:nvSpPr>
        <p:spPr>
          <a:xfrm>
            <a:off x="279400" y="167303"/>
            <a:ext cx="614790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Flowchart for MQTT Data Logging System : </a:t>
            </a:r>
          </a:p>
        </p:txBody>
      </p:sp>
      <p:pic>
        <p:nvPicPr>
          <p:cNvPr id="9" name="Picture 8">
            <a:extLst>
              <a:ext uri="{FF2B5EF4-FFF2-40B4-BE49-F238E27FC236}">
                <a16:creationId xmlns:a16="http://schemas.microsoft.com/office/drawing/2014/main" id="{EBDDA7B4-C925-4980-A883-0EA18C694441}"/>
              </a:ext>
            </a:extLst>
          </p:cNvPr>
          <p:cNvPicPr>
            <a:picLocks noChangeAspect="1"/>
          </p:cNvPicPr>
          <p:nvPr/>
        </p:nvPicPr>
        <p:blipFill>
          <a:blip r:embed="rId2"/>
          <a:stretch>
            <a:fillRect/>
          </a:stretch>
        </p:blipFill>
        <p:spPr>
          <a:xfrm>
            <a:off x="132736" y="628968"/>
            <a:ext cx="6577780" cy="9277031"/>
          </a:xfrm>
          <a:prstGeom prst="rect">
            <a:avLst/>
          </a:prstGeom>
        </p:spPr>
      </p:pic>
    </p:spTree>
    <p:extLst>
      <p:ext uri="{BB962C8B-B14F-4D97-AF65-F5344CB8AC3E}">
        <p14:creationId xmlns:p14="http://schemas.microsoft.com/office/powerpoint/2010/main" val="70030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ABA49-6BAF-0519-0AB4-7FBECF5412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902C81-C564-2101-14E5-6D9F981920D3}"/>
              </a:ext>
            </a:extLst>
          </p:cNvPr>
          <p:cNvSpPr txBox="1"/>
          <p:nvPr/>
        </p:nvSpPr>
        <p:spPr>
          <a:xfrm>
            <a:off x="242887" y="300038"/>
            <a:ext cx="971741"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Code:</a:t>
            </a:r>
          </a:p>
        </p:txBody>
      </p:sp>
      <p:sp>
        <p:nvSpPr>
          <p:cNvPr id="5" name="TextBox 4">
            <a:extLst>
              <a:ext uri="{FF2B5EF4-FFF2-40B4-BE49-F238E27FC236}">
                <a16:creationId xmlns:a16="http://schemas.microsoft.com/office/drawing/2014/main" id="{D13BBD70-2C31-C170-92DC-DE261F38DD97}"/>
              </a:ext>
            </a:extLst>
          </p:cNvPr>
          <p:cNvSpPr txBox="1"/>
          <p:nvPr/>
        </p:nvSpPr>
        <p:spPr>
          <a:xfrm>
            <a:off x="450056" y="761703"/>
            <a:ext cx="5957887" cy="7848302"/>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#include &lt;</a:t>
            </a:r>
            <a:r>
              <a:rPr lang="en-US" sz="1400" dirty="0" err="1">
                <a:latin typeface="Times New Roman" panose="02020603050405020304" pitchFamily="18" charset="0"/>
                <a:cs typeface="Times New Roman" panose="02020603050405020304" pitchFamily="18" charset="0"/>
              </a:rPr>
              <a:t>WiFi.h</a:t>
            </a:r>
            <a:r>
              <a:rPr lang="en-US" sz="1400" dirty="0">
                <a:latin typeface="Times New Roman" panose="02020603050405020304" pitchFamily="18" charset="0"/>
                <a:cs typeface="Times New Roman" panose="02020603050405020304" pitchFamily="18" charset="0"/>
              </a:rPr>
              <a:t>&gt;              // </a:t>
            </a:r>
            <a:r>
              <a:rPr lang="en-US" sz="1400" dirty="0" err="1">
                <a:latin typeface="Times New Roman" panose="02020603050405020304" pitchFamily="18" charset="0"/>
                <a:cs typeface="Times New Roman" panose="02020603050405020304" pitchFamily="18" charset="0"/>
              </a:rPr>
              <a:t>WiFi</a:t>
            </a:r>
            <a:r>
              <a:rPr lang="en-US" sz="1400" dirty="0">
                <a:latin typeface="Times New Roman" panose="02020603050405020304" pitchFamily="18" charset="0"/>
                <a:cs typeface="Times New Roman" panose="02020603050405020304" pitchFamily="18" charset="0"/>
              </a:rPr>
              <a:t> library for ESP32 connectivity</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#include &lt;</a:t>
            </a:r>
            <a:r>
              <a:rPr lang="en-US" sz="1400" dirty="0" err="1">
                <a:latin typeface="Times New Roman" panose="02020603050405020304" pitchFamily="18" charset="0"/>
                <a:cs typeface="Times New Roman" panose="02020603050405020304" pitchFamily="18" charset="0"/>
              </a:rPr>
              <a:t>PubSubClient.h</a:t>
            </a:r>
            <a:r>
              <a:rPr lang="en-US" sz="1400" dirty="0">
                <a:latin typeface="Times New Roman" panose="02020603050405020304" pitchFamily="18" charset="0"/>
                <a:cs typeface="Times New Roman" panose="02020603050405020304" pitchFamily="18" charset="0"/>
              </a:rPr>
              <a:t>&gt;      // MQTT client library</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 WIFI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const char* </a:t>
            </a:r>
            <a:r>
              <a:rPr lang="en-US" sz="1400" dirty="0" err="1">
                <a:latin typeface="Times New Roman" panose="02020603050405020304" pitchFamily="18" charset="0"/>
                <a:cs typeface="Times New Roman" panose="02020603050405020304" pitchFamily="18" charset="0"/>
              </a:rPr>
              <a:t>ssid</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Wokwi</a:t>
            </a:r>
            <a:r>
              <a:rPr lang="en-US" sz="1400" dirty="0">
                <a:latin typeface="Times New Roman" panose="02020603050405020304" pitchFamily="18" charset="0"/>
                <a:cs typeface="Times New Roman" panose="02020603050405020304" pitchFamily="18" charset="0"/>
              </a:rPr>
              <a:t>-GUEST";      // </a:t>
            </a:r>
            <a:r>
              <a:rPr lang="en-US" sz="1400" dirty="0" err="1">
                <a:latin typeface="Times New Roman" panose="02020603050405020304" pitchFamily="18" charset="0"/>
                <a:cs typeface="Times New Roman" panose="02020603050405020304" pitchFamily="18" charset="0"/>
              </a:rPr>
              <a:t>WiFi</a:t>
            </a:r>
            <a:r>
              <a:rPr lang="en-US" sz="1400" dirty="0">
                <a:latin typeface="Times New Roman" panose="02020603050405020304" pitchFamily="18" charset="0"/>
                <a:cs typeface="Times New Roman" panose="02020603050405020304" pitchFamily="18" charset="0"/>
              </a:rPr>
              <a:t> network name</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const char* password = "";             // </a:t>
            </a:r>
            <a:r>
              <a:rPr lang="en-US" sz="1400" dirty="0" err="1">
                <a:latin typeface="Times New Roman" panose="02020603050405020304" pitchFamily="18" charset="0"/>
                <a:cs typeface="Times New Roman" panose="02020603050405020304" pitchFamily="18" charset="0"/>
              </a:rPr>
              <a:t>WiFi</a:t>
            </a:r>
            <a:r>
              <a:rPr lang="en-US" sz="1400" dirty="0">
                <a:latin typeface="Times New Roman" panose="02020603050405020304" pitchFamily="18" charset="0"/>
                <a:cs typeface="Times New Roman" panose="02020603050405020304" pitchFamily="18" charset="0"/>
              </a:rPr>
              <a:t> password</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 ADAFRUIT IO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const char* </a:t>
            </a:r>
            <a:r>
              <a:rPr lang="en-US" sz="1400" dirty="0" err="1">
                <a:latin typeface="Times New Roman" panose="02020603050405020304" pitchFamily="18" charset="0"/>
                <a:cs typeface="Times New Roman" panose="02020603050405020304" pitchFamily="18" charset="0"/>
              </a:rPr>
              <a:t>mqtt_server</a:t>
            </a:r>
            <a:r>
              <a:rPr lang="en-US" sz="1400" dirty="0">
                <a:latin typeface="Times New Roman" panose="02020603050405020304" pitchFamily="18" charset="0"/>
                <a:cs typeface="Times New Roman" panose="02020603050405020304" pitchFamily="18" charset="0"/>
              </a:rPr>
              <a:t> = "io.adafruit.com";   // MQTT broker address</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const int </a:t>
            </a:r>
            <a:r>
              <a:rPr lang="en-US" sz="1400" dirty="0" err="1">
                <a:latin typeface="Times New Roman" panose="02020603050405020304" pitchFamily="18" charset="0"/>
                <a:cs typeface="Times New Roman" panose="02020603050405020304" pitchFamily="18" charset="0"/>
              </a:rPr>
              <a:t>mqtt_port</a:t>
            </a:r>
            <a:r>
              <a:rPr lang="en-US" sz="1400" dirty="0">
                <a:latin typeface="Times New Roman" panose="02020603050405020304" pitchFamily="18" charset="0"/>
                <a:cs typeface="Times New Roman" panose="02020603050405020304" pitchFamily="18" charset="0"/>
              </a:rPr>
              <a:t> = 1883;                    // MQTT port number</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const char* </a:t>
            </a:r>
            <a:r>
              <a:rPr lang="en-US" sz="1400" dirty="0" err="1">
                <a:latin typeface="Times New Roman" panose="02020603050405020304" pitchFamily="18" charset="0"/>
                <a:cs typeface="Times New Roman" panose="02020603050405020304" pitchFamily="18" charset="0"/>
              </a:rPr>
              <a:t>mqtt_user</a:t>
            </a:r>
            <a:r>
              <a:rPr lang="en-US" sz="1400" dirty="0">
                <a:latin typeface="Times New Roman" panose="02020603050405020304" pitchFamily="18" charset="0"/>
                <a:cs typeface="Times New Roman" panose="02020603050405020304" pitchFamily="18" charset="0"/>
              </a:rPr>
              <a:t> = "Anupam_31";           // Adafruit IO username</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const char* </a:t>
            </a:r>
            <a:r>
              <a:rPr lang="en-US" sz="1400" dirty="0" err="1">
                <a:latin typeface="Times New Roman" panose="02020603050405020304" pitchFamily="18" charset="0"/>
                <a:cs typeface="Times New Roman" panose="02020603050405020304" pitchFamily="18" charset="0"/>
              </a:rPr>
              <a:t>mqtt_password</a:t>
            </a:r>
            <a:r>
              <a:rPr lang="en-US" sz="1400" dirty="0">
                <a:latin typeface="Times New Roman" panose="02020603050405020304" pitchFamily="18" charset="0"/>
                <a:cs typeface="Times New Roman" panose="02020603050405020304" pitchFamily="18" charset="0"/>
              </a:rPr>
              <a:t> = "aio_zeJw7479Bq5nqD6wHeiNsTJnj5XP";  // Adafruit IO key</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String topic = "Anupam_31/feeds/soil-moisture";   // MQTT feed topic</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WiFiClient </a:t>
            </a:r>
            <a:r>
              <a:rPr lang="en-US" sz="1400" dirty="0" err="1">
                <a:latin typeface="Times New Roman" panose="02020603050405020304" pitchFamily="18" charset="0"/>
                <a:cs typeface="Times New Roman" panose="02020603050405020304" pitchFamily="18" charset="0"/>
              </a:rPr>
              <a:t>espClient</a:t>
            </a:r>
            <a:r>
              <a:rPr lang="en-US" sz="1400" dirty="0">
                <a:latin typeface="Times New Roman" panose="02020603050405020304" pitchFamily="18" charset="0"/>
                <a:cs typeface="Times New Roman" panose="02020603050405020304" pitchFamily="18" charset="0"/>
              </a:rPr>
              <a:t>;       // Create </a:t>
            </a:r>
            <a:r>
              <a:rPr lang="en-US" sz="1400" dirty="0" err="1">
                <a:latin typeface="Times New Roman" panose="02020603050405020304" pitchFamily="18" charset="0"/>
                <a:cs typeface="Times New Roman" panose="02020603050405020304" pitchFamily="18" charset="0"/>
              </a:rPr>
              <a:t>WiFi</a:t>
            </a:r>
            <a:r>
              <a:rPr lang="en-US" sz="1400" dirty="0">
                <a:latin typeface="Times New Roman" panose="02020603050405020304" pitchFamily="18" charset="0"/>
                <a:cs typeface="Times New Roman" panose="02020603050405020304" pitchFamily="18" charset="0"/>
              </a:rPr>
              <a:t> client object</a:t>
            </a:r>
            <a:endParaRPr lang="en-IN"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PubSubClient</a:t>
            </a:r>
            <a:r>
              <a:rPr lang="en-US" sz="1400" dirty="0">
                <a:latin typeface="Times New Roman" panose="02020603050405020304" pitchFamily="18" charset="0"/>
                <a:cs typeface="Times New Roman" panose="02020603050405020304" pitchFamily="18" charset="0"/>
              </a:rPr>
              <a:t> client(</a:t>
            </a:r>
            <a:r>
              <a:rPr lang="en-US" sz="1400" dirty="0" err="1">
                <a:latin typeface="Times New Roman" panose="02020603050405020304" pitchFamily="18" charset="0"/>
                <a:cs typeface="Times New Roman" panose="02020603050405020304" pitchFamily="18" charset="0"/>
              </a:rPr>
              <a:t>espClient</a:t>
            </a:r>
            <a:r>
              <a:rPr lang="en-US" sz="1400" dirty="0">
                <a:latin typeface="Times New Roman" panose="02020603050405020304" pitchFamily="18" charset="0"/>
                <a:cs typeface="Times New Roman" panose="02020603050405020304" pitchFamily="18" charset="0"/>
              </a:rPr>
              <a:t>);   // Create MQTT client object</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#define SOIL_PIN 34         // Soil moisture sensor analog pin</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#define LED_PIN 2           // LED output pin</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WiFi</a:t>
            </a:r>
            <a:r>
              <a:rPr lang="en-US" sz="1400" dirty="0">
                <a:latin typeface="Times New Roman" panose="02020603050405020304" pitchFamily="18" charset="0"/>
                <a:cs typeface="Times New Roman" panose="02020603050405020304" pitchFamily="18" charset="0"/>
              </a:rPr>
              <a:t> Connection Function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void </a:t>
            </a:r>
            <a:r>
              <a:rPr lang="en-US" sz="1400" dirty="0" err="1">
                <a:latin typeface="Times New Roman" panose="02020603050405020304" pitchFamily="18" charset="0"/>
                <a:cs typeface="Times New Roman" panose="02020603050405020304" pitchFamily="18" charset="0"/>
              </a:rPr>
              <a:t>setup_wifi</a:t>
            </a:r>
            <a:r>
              <a:rPr lang="en-US"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delay(10);                                 // Short delay for stability</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Serial.println</a:t>
            </a:r>
            <a:r>
              <a:rPr lang="en-US" sz="1400" dirty="0">
                <a:latin typeface="Times New Roman" panose="02020603050405020304" pitchFamily="18" charset="0"/>
                <a:cs typeface="Times New Roman" panose="02020603050405020304" pitchFamily="18" charset="0"/>
              </a:rPr>
              <a:t>("Connecting to </a:t>
            </a:r>
            <a:r>
              <a:rPr lang="en-US" sz="1400" dirty="0" err="1">
                <a:latin typeface="Times New Roman" panose="02020603050405020304" pitchFamily="18" charset="0"/>
                <a:cs typeface="Times New Roman" panose="02020603050405020304" pitchFamily="18" charset="0"/>
              </a:rPr>
              <a:t>WiFi</a:t>
            </a:r>
            <a:r>
              <a:rPr lang="en-US" sz="1400" dirty="0">
                <a:latin typeface="Times New Roman" panose="02020603050405020304" pitchFamily="18" charset="0"/>
                <a:cs typeface="Times New Roman" panose="02020603050405020304" pitchFamily="18" charset="0"/>
              </a:rPr>
              <a:t>...");   // Status message</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WiFi.begin</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ssid</a:t>
            </a:r>
            <a:r>
              <a:rPr lang="en-US" sz="1400" dirty="0">
                <a:latin typeface="Times New Roman" panose="02020603050405020304" pitchFamily="18" charset="0"/>
                <a:cs typeface="Times New Roman" panose="02020603050405020304" pitchFamily="18" charset="0"/>
              </a:rPr>
              <a:t>, password);                // Start </a:t>
            </a:r>
            <a:r>
              <a:rPr lang="en-US" sz="1400" dirty="0" err="1">
                <a:latin typeface="Times New Roman" panose="02020603050405020304" pitchFamily="18" charset="0"/>
                <a:cs typeface="Times New Roman" panose="02020603050405020304" pitchFamily="18" charset="0"/>
              </a:rPr>
              <a:t>WiFi</a:t>
            </a:r>
            <a:r>
              <a:rPr lang="en-US" sz="1400" dirty="0">
                <a:latin typeface="Times New Roman" panose="02020603050405020304" pitchFamily="18" charset="0"/>
                <a:cs typeface="Times New Roman" panose="02020603050405020304" pitchFamily="18" charset="0"/>
              </a:rPr>
              <a:t> connection</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while (</a:t>
            </a:r>
            <a:r>
              <a:rPr lang="en-US" sz="1400" dirty="0" err="1">
                <a:latin typeface="Times New Roman" panose="02020603050405020304" pitchFamily="18" charset="0"/>
                <a:cs typeface="Times New Roman" panose="02020603050405020304" pitchFamily="18" charset="0"/>
              </a:rPr>
              <a:t>WiFi.status</a:t>
            </a:r>
            <a:r>
              <a:rPr lang="en-US" sz="1400" dirty="0">
                <a:latin typeface="Times New Roman" panose="02020603050405020304" pitchFamily="18" charset="0"/>
                <a:cs typeface="Times New Roman" panose="02020603050405020304" pitchFamily="18" charset="0"/>
              </a:rPr>
              <a:t>() != WL_CONNECTED) {  // Wait until connected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delay(500);</a:t>
            </a:r>
          </a:p>
          <a:p>
            <a:r>
              <a:rPr lang="en-US" sz="1400" dirty="0"/>
              <a:t> </a:t>
            </a:r>
            <a:r>
              <a:rPr lang="en-US" sz="1400" dirty="0" err="1"/>
              <a:t>Serial.print</a:t>
            </a:r>
            <a:r>
              <a:rPr lang="en-US" sz="1400" dirty="0"/>
              <a:t>(".");   }</a:t>
            </a:r>
            <a:endParaRPr lang="en-IN" sz="1400" dirty="0"/>
          </a:p>
          <a:p>
            <a:r>
              <a:rPr lang="en-US" sz="1400" dirty="0" err="1"/>
              <a:t>Serial.println</a:t>
            </a:r>
            <a:r>
              <a:rPr lang="en-US" sz="1400" dirty="0"/>
              <a:t>("\</a:t>
            </a:r>
            <a:r>
              <a:rPr lang="en-US" sz="1400" dirty="0" err="1"/>
              <a:t>nWiFi</a:t>
            </a:r>
            <a:r>
              <a:rPr lang="en-US" sz="1400" dirty="0"/>
              <a:t> Connected!");  }      // Connected message</a:t>
            </a:r>
            <a:endParaRPr lang="en-IN" sz="1400" dirty="0"/>
          </a:p>
          <a:p>
            <a:r>
              <a:rPr lang="en-US" sz="1400" dirty="0"/>
              <a:t>// ---------------- MQTT Reconnect Function ----------------</a:t>
            </a:r>
            <a:endParaRPr lang="en-IN" sz="1400" dirty="0"/>
          </a:p>
          <a:p>
            <a:r>
              <a:rPr lang="en-US" sz="1400" dirty="0"/>
              <a:t>void reconnect() {</a:t>
            </a:r>
            <a:endParaRPr lang="en-IN" sz="1400" dirty="0"/>
          </a:p>
          <a:p>
            <a:r>
              <a:rPr lang="en-US" sz="1400" dirty="0"/>
              <a:t>  while (!</a:t>
            </a:r>
            <a:r>
              <a:rPr lang="en-US" sz="1400" dirty="0" err="1"/>
              <a:t>client.connected</a:t>
            </a:r>
            <a:r>
              <a:rPr lang="en-US" sz="1400" dirty="0"/>
              <a:t>())  {              // Loop until MQTT connected</a:t>
            </a:r>
            <a:endParaRPr lang="en-IN" sz="1400" dirty="0"/>
          </a:p>
          <a:p>
            <a:r>
              <a:rPr lang="en-US" sz="1400" dirty="0"/>
              <a:t>    </a:t>
            </a:r>
            <a:r>
              <a:rPr lang="en-US" sz="1400" dirty="0" err="1"/>
              <a:t>Serial.print</a:t>
            </a:r>
            <a:r>
              <a:rPr lang="en-US" sz="1400" dirty="0"/>
              <a:t>("Connecting to MQTT...");</a:t>
            </a:r>
            <a:endParaRPr lang="en-IN" sz="1400" dirty="0"/>
          </a:p>
          <a:p>
            <a:r>
              <a:rPr lang="en-US" sz="1400" dirty="0"/>
              <a:t>    if (</a:t>
            </a:r>
            <a:r>
              <a:rPr lang="en-US" sz="1400" dirty="0" err="1"/>
              <a:t>client.connect</a:t>
            </a:r>
            <a:r>
              <a:rPr lang="en-US" sz="1400" dirty="0"/>
              <a:t>("ESP32Client", </a:t>
            </a:r>
            <a:r>
              <a:rPr lang="en-US" sz="1400" dirty="0" err="1"/>
              <a:t>mqtt_user</a:t>
            </a:r>
            <a:r>
              <a:rPr lang="en-US" sz="1400" dirty="0"/>
              <a:t>, </a:t>
            </a:r>
            <a:r>
              <a:rPr lang="en-US" sz="1400" dirty="0" err="1"/>
              <a:t>mqtt_password</a:t>
            </a:r>
            <a:r>
              <a:rPr lang="en-US" sz="1400" dirty="0"/>
              <a:t>))  {</a:t>
            </a:r>
            <a:endParaRPr lang="en-IN" sz="1400" dirty="0"/>
          </a:p>
          <a:p>
            <a:r>
              <a:rPr lang="en-US" sz="1400" dirty="0"/>
              <a:t>      </a:t>
            </a:r>
            <a:r>
              <a:rPr lang="en-US" sz="1400" dirty="0" err="1"/>
              <a:t>Serial.println</a:t>
            </a:r>
            <a:r>
              <a:rPr lang="en-US" sz="1400" dirty="0"/>
              <a:t>("Connected!");   }       // Success message </a:t>
            </a:r>
            <a:endParaRPr lang="en-IN" sz="1400" dirty="0"/>
          </a:p>
          <a:p>
            <a:r>
              <a:rPr lang="en-US" sz="1400" dirty="0"/>
              <a:t>    Else  {</a:t>
            </a:r>
            <a:endParaRPr lang="en-IN" sz="1400" dirty="0"/>
          </a:p>
          <a:p>
            <a:r>
              <a:rPr lang="en-US" sz="1400" dirty="0"/>
              <a:t>      </a:t>
            </a:r>
            <a:r>
              <a:rPr lang="en-US" sz="1400" dirty="0" err="1"/>
              <a:t>Serial.print</a:t>
            </a:r>
            <a:r>
              <a:rPr lang="en-US" sz="1400" dirty="0"/>
              <a:t>("Failed, </a:t>
            </a:r>
            <a:r>
              <a:rPr lang="en-US" sz="1400" dirty="0" err="1"/>
              <a:t>rc</a:t>
            </a:r>
            <a:r>
              <a:rPr lang="en-US" sz="1400" dirty="0"/>
              <a:t>=");</a:t>
            </a:r>
            <a:endParaRPr lang="en-IN" sz="1400" dirty="0"/>
          </a:p>
          <a:p>
            <a:r>
              <a:rPr lang="en-US" sz="1400" dirty="0"/>
              <a:t>      </a:t>
            </a:r>
            <a:r>
              <a:rPr lang="en-US" sz="1400" dirty="0" err="1"/>
              <a:t>Serial.print</a:t>
            </a:r>
            <a:r>
              <a:rPr lang="en-US" sz="1400" dirty="0"/>
              <a:t>(</a:t>
            </a:r>
            <a:r>
              <a:rPr lang="en-US" sz="1400" dirty="0" err="1"/>
              <a:t>client.state</a:t>
            </a:r>
            <a:r>
              <a:rPr lang="en-US" sz="1400" dirty="0"/>
              <a:t>());          // Error code</a:t>
            </a:r>
            <a:endParaRPr lang="en-IN" sz="1400" dirty="0"/>
          </a:p>
          <a:p>
            <a:r>
              <a:rPr lang="en-US" sz="1400" dirty="0"/>
              <a:t>      </a:t>
            </a:r>
            <a:r>
              <a:rPr lang="en-US" sz="1400" dirty="0" err="1"/>
              <a:t>Serial.println</a:t>
            </a:r>
            <a:r>
              <a:rPr lang="en-US" sz="1400" dirty="0"/>
              <a:t>(" retrying in 5 seconds...");</a:t>
            </a:r>
            <a:endParaRPr lang="en-IN" sz="1400" dirty="0"/>
          </a:p>
          <a:p>
            <a:r>
              <a:rPr lang="en-US" sz="1400" dirty="0"/>
              <a:t>      delay(5000);       }}}                    // Retry delay</a:t>
            </a:r>
          </a:p>
        </p:txBody>
      </p:sp>
    </p:spTree>
    <p:extLst>
      <p:ext uri="{BB962C8B-B14F-4D97-AF65-F5344CB8AC3E}">
        <p14:creationId xmlns:p14="http://schemas.microsoft.com/office/powerpoint/2010/main" val="2309728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E83BE-9742-C3C5-FA68-A2FB76BAF8A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9D1C8C-0DEC-CDB6-4230-157AF393BAC7}"/>
              </a:ext>
            </a:extLst>
          </p:cNvPr>
          <p:cNvSpPr txBox="1"/>
          <p:nvPr/>
        </p:nvSpPr>
        <p:spPr>
          <a:xfrm>
            <a:off x="450056" y="563583"/>
            <a:ext cx="5957887" cy="6124754"/>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 ---------------- Arduino Setup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void setup()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Serial.begin</a:t>
            </a:r>
            <a:r>
              <a:rPr lang="en-US" sz="1400" dirty="0">
                <a:latin typeface="Times New Roman" panose="02020603050405020304" pitchFamily="18" charset="0"/>
                <a:cs typeface="Times New Roman" panose="02020603050405020304" pitchFamily="18" charset="0"/>
              </a:rPr>
              <a:t>(115200);          // Start serial monitor</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pinMode</a:t>
            </a:r>
            <a:r>
              <a:rPr lang="en-US" sz="1400" dirty="0">
                <a:latin typeface="Times New Roman" panose="02020603050405020304" pitchFamily="18" charset="0"/>
                <a:cs typeface="Times New Roman" panose="02020603050405020304" pitchFamily="18" charset="0"/>
              </a:rPr>
              <a:t>(LED_PIN, OUTPUT);      // Set LED as output</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pinMode</a:t>
            </a:r>
            <a:r>
              <a:rPr lang="en-US" sz="1400" dirty="0">
                <a:latin typeface="Times New Roman" panose="02020603050405020304" pitchFamily="18" charset="0"/>
                <a:cs typeface="Times New Roman" panose="02020603050405020304" pitchFamily="18" charset="0"/>
              </a:rPr>
              <a:t>(SOIL_PIN, INPUT);      // Set sensor pin as input</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setup_wifi</a:t>
            </a:r>
            <a:r>
              <a:rPr lang="en-US" sz="1400" dirty="0">
                <a:latin typeface="Times New Roman" panose="02020603050405020304" pitchFamily="18" charset="0"/>
                <a:cs typeface="Times New Roman" panose="02020603050405020304" pitchFamily="18" charset="0"/>
              </a:rPr>
              <a:t>();                  // Connect </a:t>
            </a:r>
            <a:r>
              <a:rPr lang="en-US" sz="1400" dirty="0" err="1">
                <a:latin typeface="Times New Roman" panose="02020603050405020304" pitchFamily="18" charset="0"/>
                <a:cs typeface="Times New Roman" panose="02020603050405020304" pitchFamily="18" charset="0"/>
              </a:rPr>
              <a:t>WiFi</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client.setServer</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mqtt_server</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mqtt_port</a:t>
            </a:r>
            <a:r>
              <a:rPr lang="en-US" sz="1400" dirty="0">
                <a:latin typeface="Times New Roman" panose="02020603050405020304" pitchFamily="18" charset="0"/>
                <a:cs typeface="Times New Roman" panose="02020603050405020304" pitchFamily="18" charset="0"/>
              </a:rPr>
              <a:t>);  // Set MQTT server</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reconnect();      }             // Connect MQTT</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 Arduino Loop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void loop() {</a:t>
            </a:r>
          </a:p>
          <a:p>
            <a:r>
              <a:rPr lang="en-US" sz="1400" dirty="0">
                <a:latin typeface="Times New Roman" panose="02020603050405020304" pitchFamily="18" charset="0"/>
                <a:cs typeface="Times New Roman" panose="02020603050405020304" pitchFamily="18" charset="0"/>
              </a:rPr>
              <a:t> if (!</a:t>
            </a:r>
            <a:r>
              <a:rPr lang="en-US" sz="1400" dirty="0" err="1">
                <a:latin typeface="Times New Roman" panose="02020603050405020304" pitchFamily="18" charset="0"/>
                <a:cs typeface="Times New Roman" panose="02020603050405020304" pitchFamily="18" charset="0"/>
              </a:rPr>
              <a:t>client.connected</a:t>
            </a:r>
            <a:r>
              <a:rPr lang="en-US" sz="1400" dirty="0">
                <a:latin typeface="Times New Roman" panose="02020603050405020304" pitchFamily="18" charset="0"/>
                <a:cs typeface="Times New Roman" panose="02020603050405020304" pitchFamily="18" charset="0"/>
              </a:rPr>
              <a:t>())  {     // Check MQTT connection</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reconnect();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client.loop</a:t>
            </a:r>
            <a:r>
              <a:rPr lang="en-US" sz="1400" dirty="0">
                <a:latin typeface="Times New Roman" panose="02020603050405020304" pitchFamily="18" charset="0"/>
                <a:cs typeface="Times New Roman" panose="02020603050405020304" pitchFamily="18" charset="0"/>
              </a:rPr>
              <a:t>();                 // Maintain MQTT connection</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int </a:t>
            </a:r>
            <a:r>
              <a:rPr lang="en-US" sz="1400" dirty="0" err="1">
                <a:latin typeface="Times New Roman" panose="02020603050405020304" pitchFamily="18" charset="0"/>
                <a:cs typeface="Times New Roman" panose="02020603050405020304" pitchFamily="18" charset="0"/>
              </a:rPr>
              <a:t>soilValue</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analogRead</a:t>
            </a:r>
            <a:r>
              <a:rPr lang="en-US" sz="1400" dirty="0">
                <a:latin typeface="Times New Roman" panose="02020603050405020304" pitchFamily="18" charset="0"/>
                <a:cs typeface="Times New Roman" panose="02020603050405020304" pitchFamily="18" charset="0"/>
              </a:rPr>
              <a:t>(SOIL_PIN);   // Read soil moisture value</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Serial.print</a:t>
            </a:r>
            <a:r>
              <a:rPr lang="en-US" sz="1400" dirty="0">
                <a:latin typeface="Times New Roman" panose="02020603050405020304" pitchFamily="18" charset="0"/>
                <a:cs typeface="Times New Roman" panose="02020603050405020304" pitchFamily="18" charset="0"/>
              </a:rPr>
              <a:t>("Soil Moisture: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Serial.println</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soilValue</a:t>
            </a:r>
            <a:r>
              <a:rPr lang="en-US" sz="1400" dirty="0">
                <a:latin typeface="Times New Roman" panose="02020603050405020304" pitchFamily="18" charset="0"/>
                <a:cs typeface="Times New Roman" panose="02020603050405020304" pitchFamily="18" charset="0"/>
              </a:rPr>
              <a:t>);              // Print value</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 Dry soil condition check</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if (</a:t>
            </a:r>
            <a:r>
              <a:rPr lang="en-US" sz="1400" dirty="0" err="1">
                <a:latin typeface="Times New Roman" panose="02020603050405020304" pitchFamily="18" charset="0"/>
                <a:cs typeface="Times New Roman" panose="02020603050405020304" pitchFamily="18" charset="0"/>
              </a:rPr>
              <a:t>soilValue</a:t>
            </a:r>
            <a:r>
              <a:rPr lang="en-US" sz="1400" dirty="0">
                <a:latin typeface="Times New Roman" panose="02020603050405020304" pitchFamily="18" charset="0"/>
                <a:cs typeface="Times New Roman" panose="02020603050405020304" pitchFamily="18" charset="0"/>
              </a:rPr>
              <a:t> &gt; 2000)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digitalWrite</a:t>
            </a:r>
            <a:r>
              <a:rPr lang="en-US" sz="1400" dirty="0">
                <a:latin typeface="Times New Roman" panose="02020603050405020304" pitchFamily="18" charset="0"/>
                <a:cs typeface="Times New Roman" panose="02020603050405020304" pitchFamily="18" charset="0"/>
              </a:rPr>
              <a:t>(LED_PIN, HIGH);    }      // Turn LED ON (dry)</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else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digitalWrite</a:t>
            </a:r>
            <a:r>
              <a:rPr lang="en-US" sz="1400" dirty="0">
                <a:latin typeface="Times New Roman" panose="02020603050405020304" pitchFamily="18" charset="0"/>
                <a:cs typeface="Times New Roman" panose="02020603050405020304" pitchFamily="18" charset="0"/>
              </a:rPr>
              <a:t>(LED_PIN, LOW);  }          // Turn LED OFF (wet)</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String payload = String(</a:t>
            </a:r>
            <a:r>
              <a:rPr lang="en-US" sz="1400" dirty="0" err="1">
                <a:latin typeface="Times New Roman" panose="02020603050405020304" pitchFamily="18" charset="0"/>
                <a:cs typeface="Times New Roman" panose="02020603050405020304" pitchFamily="18" charset="0"/>
              </a:rPr>
              <a:t>soilValue</a:t>
            </a:r>
            <a:r>
              <a:rPr lang="en-US" sz="1400" dirty="0">
                <a:latin typeface="Times New Roman" panose="02020603050405020304" pitchFamily="18" charset="0"/>
                <a:cs typeface="Times New Roman" panose="02020603050405020304" pitchFamily="18" charset="0"/>
              </a:rPr>
              <a:t>);     // Convert value to string</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 Publish data to Adafruit IO</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if (</a:t>
            </a:r>
            <a:r>
              <a:rPr lang="en-US" sz="1400" dirty="0" err="1">
                <a:latin typeface="Times New Roman" panose="02020603050405020304" pitchFamily="18" charset="0"/>
                <a:cs typeface="Times New Roman" panose="02020603050405020304" pitchFamily="18" charset="0"/>
              </a:rPr>
              <a:t>client.publish</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topic.c_str</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payload.c_str</a:t>
            </a:r>
            <a:r>
              <a:rPr lang="en-US"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Serial.println</a:t>
            </a:r>
            <a:r>
              <a:rPr lang="en-US" sz="1400" dirty="0">
                <a:latin typeface="Times New Roman" panose="02020603050405020304" pitchFamily="18" charset="0"/>
                <a:cs typeface="Times New Roman" panose="02020603050405020304" pitchFamily="18" charset="0"/>
              </a:rPr>
              <a:t>("Data published to Adafruit IO!");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else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Serial.println</a:t>
            </a:r>
            <a:r>
              <a:rPr lang="en-US" sz="1400" dirty="0">
                <a:latin typeface="Times New Roman" panose="02020603050405020304" pitchFamily="18" charset="0"/>
                <a:cs typeface="Times New Roman" panose="02020603050405020304" pitchFamily="18" charset="0"/>
              </a:rPr>
              <a:t>("Publish failed");  }</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delay(10000);   }  // Send data every 10 seconds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19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9280A-2814-41A6-C8C6-4AA2098ED8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5728A1-E6AD-6482-AFAE-0D25AA750E9B}"/>
              </a:ext>
            </a:extLst>
          </p:cNvPr>
          <p:cNvSpPr txBox="1"/>
          <p:nvPr/>
        </p:nvSpPr>
        <p:spPr>
          <a:xfrm>
            <a:off x="420052" y="239078"/>
            <a:ext cx="5729287" cy="8125301"/>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Communication Protocols Used</a:t>
            </a:r>
          </a:p>
          <a:p>
            <a:r>
              <a:rPr lang="en-IN" b="1" dirty="0">
                <a:latin typeface="Times New Roman" panose="02020603050405020304" pitchFamily="18" charset="0"/>
                <a:cs typeface="Times New Roman" panose="02020603050405020304" pitchFamily="18" charset="0"/>
              </a:rPr>
              <a:t>1. </a:t>
            </a:r>
            <a:r>
              <a:rPr lang="en-IN" b="1" dirty="0" err="1">
                <a:latin typeface="Times New Roman" panose="02020603050405020304" pitchFamily="18" charset="0"/>
                <a:cs typeface="Times New Roman" panose="02020603050405020304" pitchFamily="18" charset="0"/>
              </a:rPr>
              <a:t>WiFi</a:t>
            </a:r>
            <a:r>
              <a:rPr lang="en-IN" b="1" dirty="0">
                <a:latin typeface="Times New Roman" panose="02020603050405020304" pitchFamily="18" charset="0"/>
                <a:cs typeface="Times New Roman" panose="02020603050405020304" pitchFamily="18" charset="0"/>
              </a:rPr>
              <a:t> (IEEE 802.11)</a:t>
            </a:r>
          </a:p>
          <a:p>
            <a:r>
              <a:rPr lang="en-IN" dirty="0">
                <a:latin typeface="Times New Roman" panose="02020603050405020304" pitchFamily="18" charset="0"/>
                <a:cs typeface="Times New Roman" panose="02020603050405020304" pitchFamily="18" charset="0"/>
              </a:rPr>
              <a:t>Provides wireless connectivity</a:t>
            </a:r>
          </a:p>
          <a:p>
            <a:r>
              <a:rPr lang="en-IN" dirty="0">
                <a:latin typeface="Times New Roman" panose="02020603050405020304" pitchFamily="18" charset="0"/>
                <a:cs typeface="Times New Roman" panose="02020603050405020304" pitchFamily="18" charset="0"/>
              </a:rPr>
              <a:t>Operates at Physical and Data Link Layer</a:t>
            </a:r>
          </a:p>
          <a:p>
            <a:r>
              <a:rPr lang="en-IN" b="1" dirty="0">
                <a:latin typeface="Times New Roman" panose="02020603050405020304" pitchFamily="18" charset="0"/>
                <a:cs typeface="Times New Roman" panose="02020603050405020304" pitchFamily="18" charset="0"/>
              </a:rPr>
              <a:t>2. TCP (Transmission Control Protocol)</a:t>
            </a:r>
          </a:p>
          <a:p>
            <a:r>
              <a:rPr lang="en-IN" dirty="0">
                <a:latin typeface="Times New Roman" panose="02020603050405020304" pitchFamily="18" charset="0"/>
                <a:cs typeface="Times New Roman" panose="02020603050405020304" pitchFamily="18" charset="0"/>
              </a:rPr>
              <a:t>Ensures reliable communication</a:t>
            </a:r>
          </a:p>
          <a:p>
            <a:r>
              <a:rPr lang="en-IN" dirty="0">
                <a:latin typeface="Times New Roman" panose="02020603050405020304" pitchFamily="18" charset="0"/>
                <a:cs typeface="Times New Roman" panose="02020603050405020304" pitchFamily="18" charset="0"/>
              </a:rPr>
              <a:t>Provides error checking</a:t>
            </a:r>
          </a:p>
          <a:p>
            <a:r>
              <a:rPr lang="en-IN" dirty="0">
                <a:latin typeface="Times New Roman" panose="02020603050405020304" pitchFamily="18" charset="0"/>
                <a:cs typeface="Times New Roman" panose="02020603050405020304" pitchFamily="18" charset="0"/>
              </a:rPr>
              <a:t>Works at Transport Layer</a:t>
            </a:r>
          </a:p>
          <a:p>
            <a:r>
              <a:rPr lang="en-IN" b="1" dirty="0">
                <a:latin typeface="Times New Roman" panose="02020603050405020304" pitchFamily="18" charset="0"/>
                <a:cs typeface="Times New Roman" panose="02020603050405020304" pitchFamily="18" charset="0"/>
              </a:rPr>
              <a:t>3. IP (Internet Protocol)</a:t>
            </a:r>
          </a:p>
          <a:p>
            <a:r>
              <a:rPr lang="en-IN" dirty="0">
                <a:latin typeface="Times New Roman" panose="02020603050405020304" pitchFamily="18" charset="0"/>
                <a:cs typeface="Times New Roman" panose="02020603050405020304" pitchFamily="18" charset="0"/>
              </a:rPr>
              <a:t>Routes packets through internet</a:t>
            </a:r>
          </a:p>
          <a:p>
            <a:r>
              <a:rPr lang="en-IN" dirty="0">
                <a:latin typeface="Times New Roman" panose="02020603050405020304" pitchFamily="18" charset="0"/>
                <a:cs typeface="Times New Roman" panose="02020603050405020304" pitchFamily="18" charset="0"/>
              </a:rPr>
              <a:t>Works at Network Layer</a:t>
            </a:r>
          </a:p>
          <a:p>
            <a:r>
              <a:rPr lang="en-IN" b="1" dirty="0">
                <a:latin typeface="Times New Roman" panose="02020603050405020304" pitchFamily="18" charset="0"/>
                <a:cs typeface="Times New Roman" panose="02020603050405020304" pitchFamily="18" charset="0"/>
              </a:rPr>
              <a:t>4. MQTT (Message Queuing Telemetry Transport)</a:t>
            </a:r>
          </a:p>
          <a:p>
            <a:r>
              <a:rPr lang="en-IN" dirty="0">
                <a:latin typeface="Times New Roman" panose="02020603050405020304" pitchFamily="18" charset="0"/>
                <a:cs typeface="Times New Roman" panose="02020603050405020304" pitchFamily="18" charset="0"/>
              </a:rPr>
              <a:t>Lightweight IoT protocol</a:t>
            </a:r>
          </a:p>
          <a:p>
            <a:r>
              <a:rPr lang="en-IN" dirty="0">
                <a:latin typeface="Times New Roman" panose="02020603050405020304" pitchFamily="18" charset="0"/>
                <a:cs typeface="Times New Roman" panose="02020603050405020304" pitchFamily="18" charset="0"/>
              </a:rPr>
              <a:t>Uses Publish/Subscribe model</a:t>
            </a:r>
          </a:p>
          <a:p>
            <a:r>
              <a:rPr lang="en-IN" dirty="0">
                <a:latin typeface="Times New Roman" panose="02020603050405020304" pitchFamily="18" charset="0"/>
                <a:cs typeface="Times New Roman" panose="02020603050405020304" pitchFamily="18" charset="0"/>
              </a:rPr>
              <a:t>Works at Application Layer</a:t>
            </a:r>
          </a:p>
          <a:p>
            <a:r>
              <a:rPr lang="en-IN" b="1" dirty="0">
                <a:latin typeface="Times New Roman" panose="02020603050405020304" pitchFamily="18" charset="0"/>
                <a:cs typeface="Times New Roman" panose="02020603050405020304" pitchFamily="18" charset="0"/>
              </a:rPr>
              <a:t>5. JSON</a:t>
            </a:r>
          </a:p>
          <a:p>
            <a:r>
              <a:rPr lang="en-IN" dirty="0">
                <a:latin typeface="Times New Roman" panose="02020603050405020304" pitchFamily="18" charset="0"/>
                <a:cs typeface="Times New Roman" panose="02020603050405020304" pitchFamily="18" charset="0"/>
              </a:rPr>
              <a:t>Data formatting method</a:t>
            </a:r>
          </a:p>
          <a:p>
            <a:r>
              <a:rPr lang="en-IN" dirty="0">
                <a:latin typeface="Times New Roman" panose="02020603050405020304" pitchFamily="18" charset="0"/>
                <a:cs typeface="Times New Roman" panose="02020603050405020304" pitchFamily="18" charset="0"/>
              </a:rPr>
              <a:t>Structured key-value format</a:t>
            </a:r>
          </a:p>
          <a:p>
            <a:endParaRPr lang="en-IN"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a:p>
            <a:pPr algn="ctr"/>
            <a:r>
              <a:rPr lang="en-IN" sz="2400" b="1" dirty="0">
                <a:latin typeface="Times New Roman" panose="02020603050405020304" pitchFamily="18" charset="0"/>
                <a:cs typeface="Times New Roman" panose="02020603050405020304" pitchFamily="18" charset="0"/>
              </a:rPr>
              <a:t>Protocol Stack Used</a:t>
            </a:r>
          </a:p>
          <a:p>
            <a:r>
              <a:rPr lang="en-IN" dirty="0">
                <a:latin typeface="Times New Roman" panose="02020603050405020304" pitchFamily="18" charset="0"/>
                <a:cs typeface="Times New Roman" panose="02020603050405020304" pitchFamily="18" charset="0"/>
              </a:rPr>
              <a:t>Application Layer → MQTT + JSON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Transport Layer → TCP</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Network Layer → IP</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Data Link Layer → </a:t>
            </a:r>
            <a:r>
              <a:rPr lang="en-IN" dirty="0" err="1">
                <a:latin typeface="Times New Roman" panose="02020603050405020304" pitchFamily="18" charset="0"/>
                <a:cs typeface="Times New Roman" panose="02020603050405020304" pitchFamily="18" charset="0"/>
              </a:rPr>
              <a:t>WiFi</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Physical Layer → Wireless Signals</a:t>
            </a: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40911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06C8C-A03D-FD40-7C12-C1E4947830F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D286AF9-10CD-B07E-C3FF-C0F8F8F465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554" y="239078"/>
            <a:ext cx="6410892" cy="4273928"/>
          </a:xfrm>
          <a:prstGeom prst="rect">
            <a:avLst/>
          </a:prstGeom>
        </p:spPr>
      </p:pic>
      <p:pic>
        <p:nvPicPr>
          <p:cNvPr id="6" name="Picture 5">
            <a:extLst>
              <a:ext uri="{FF2B5EF4-FFF2-40B4-BE49-F238E27FC236}">
                <a16:creationId xmlns:a16="http://schemas.microsoft.com/office/drawing/2014/main" id="{ECD6A8D7-5A85-3BF0-1725-9B92B988F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974" y="5269861"/>
            <a:ext cx="6293078" cy="3343197"/>
          </a:xfrm>
          <a:prstGeom prst="rect">
            <a:avLst/>
          </a:prstGeom>
        </p:spPr>
      </p:pic>
      <p:sp>
        <p:nvSpPr>
          <p:cNvPr id="7" name="TextBox 6">
            <a:extLst>
              <a:ext uri="{FF2B5EF4-FFF2-40B4-BE49-F238E27FC236}">
                <a16:creationId xmlns:a16="http://schemas.microsoft.com/office/drawing/2014/main" id="{EA58102A-9CE1-5B3C-BF3A-4CB9E4645235}"/>
              </a:ext>
            </a:extLst>
          </p:cNvPr>
          <p:cNvSpPr txBox="1"/>
          <p:nvPr/>
        </p:nvSpPr>
        <p:spPr>
          <a:xfrm>
            <a:off x="282461" y="4768334"/>
            <a:ext cx="2762295"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WOKWI DASHBOARD :</a:t>
            </a:r>
          </a:p>
        </p:txBody>
      </p:sp>
    </p:spTree>
    <p:extLst>
      <p:ext uri="{BB962C8B-B14F-4D97-AF65-F5344CB8AC3E}">
        <p14:creationId xmlns:p14="http://schemas.microsoft.com/office/powerpoint/2010/main" val="2711008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DF5F0-872F-C77D-F190-EBDB95CDDB2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CA24195-458A-0407-6427-6FE06B555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924" y="1096120"/>
            <a:ext cx="5523629" cy="2848058"/>
          </a:xfrm>
          <a:prstGeom prst="rect">
            <a:avLst/>
          </a:prstGeom>
        </p:spPr>
      </p:pic>
      <p:pic>
        <p:nvPicPr>
          <p:cNvPr id="12" name="Picture 11">
            <a:extLst>
              <a:ext uri="{FF2B5EF4-FFF2-40B4-BE49-F238E27FC236}">
                <a16:creationId xmlns:a16="http://schemas.microsoft.com/office/drawing/2014/main" id="{44AC93BA-FFA1-4D18-B03F-6F07BEBCEA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875" y="4911650"/>
            <a:ext cx="6281275" cy="2706920"/>
          </a:xfrm>
          <a:prstGeom prst="rect">
            <a:avLst/>
          </a:prstGeom>
        </p:spPr>
      </p:pic>
      <p:sp>
        <p:nvSpPr>
          <p:cNvPr id="13" name="TextBox 12">
            <a:extLst>
              <a:ext uri="{FF2B5EF4-FFF2-40B4-BE49-F238E27FC236}">
                <a16:creationId xmlns:a16="http://schemas.microsoft.com/office/drawing/2014/main" id="{D12382AA-E8A6-AF8F-FD50-58A55CDAE4D5}"/>
              </a:ext>
            </a:extLst>
          </p:cNvPr>
          <p:cNvSpPr txBox="1"/>
          <p:nvPr/>
        </p:nvSpPr>
        <p:spPr>
          <a:xfrm>
            <a:off x="508924" y="498287"/>
            <a:ext cx="2837443"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TELEMETRY UPDATES:</a:t>
            </a:r>
          </a:p>
        </p:txBody>
      </p:sp>
      <p:sp>
        <p:nvSpPr>
          <p:cNvPr id="14" name="TextBox 13">
            <a:extLst>
              <a:ext uri="{FF2B5EF4-FFF2-40B4-BE49-F238E27FC236}">
                <a16:creationId xmlns:a16="http://schemas.microsoft.com/office/drawing/2014/main" id="{3D254DC5-33A8-E301-622F-15AA09AD9F79}"/>
              </a:ext>
            </a:extLst>
          </p:cNvPr>
          <p:cNvSpPr txBox="1"/>
          <p:nvPr/>
        </p:nvSpPr>
        <p:spPr>
          <a:xfrm>
            <a:off x="508924" y="4172679"/>
            <a:ext cx="1223412"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GRAPHS:</a:t>
            </a:r>
          </a:p>
        </p:txBody>
      </p:sp>
    </p:spTree>
    <p:extLst>
      <p:ext uri="{BB962C8B-B14F-4D97-AF65-F5344CB8AC3E}">
        <p14:creationId xmlns:p14="http://schemas.microsoft.com/office/powerpoint/2010/main" val="4031711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703A1-03CB-EA36-0C06-76E242BF22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459653-901E-8A0D-7714-416A447A4451}"/>
              </a:ext>
            </a:extLst>
          </p:cNvPr>
          <p:cNvSpPr txBox="1"/>
          <p:nvPr/>
        </p:nvSpPr>
        <p:spPr>
          <a:xfrm>
            <a:off x="398131" y="1126437"/>
            <a:ext cx="6134763" cy="470898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Gauge Chart – Soil Moisture Level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Displays current soil moisture value in real time.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Helps identify dry or wet soil condition instantly.</a:t>
            </a:r>
          </a:p>
          <a:p>
            <a:r>
              <a:rPr lang="en-IN" sz="2000" b="1" dirty="0">
                <a:latin typeface="Times New Roman" panose="02020603050405020304" pitchFamily="18" charset="0"/>
                <a:cs typeface="Times New Roman" panose="02020603050405020304" pitchFamily="18" charset="0"/>
              </a:rPr>
              <a:t>2. Line Chart / Time Series Chart – Moisture Data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Shows soil moisture values over time.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Useful for monitoring changes and trends continuously.</a:t>
            </a:r>
          </a:p>
          <a:p>
            <a:r>
              <a:rPr lang="en-IN" sz="2000" b="1" dirty="0">
                <a:latin typeface="Times New Roman" panose="02020603050405020304" pitchFamily="18" charset="0"/>
                <a:cs typeface="Times New Roman" panose="02020603050405020304" pitchFamily="18" charset="0"/>
              </a:rPr>
              <a:t>3. Feed Data Table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Displays published MQTT data records with timestamps.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Helps in checking historical sensor readings.</a:t>
            </a:r>
          </a:p>
          <a:p>
            <a:r>
              <a:rPr lang="en-IN" sz="2000" b="1" dirty="0">
                <a:latin typeface="Times New Roman" panose="02020603050405020304" pitchFamily="18" charset="0"/>
                <a:cs typeface="Times New Roman" panose="02020603050405020304" pitchFamily="18" charset="0"/>
              </a:rPr>
              <a:t>4. Indicator / Status Block</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Shows LED status (Dry / Normal).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Useful for alert monitoring.</a:t>
            </a:r>
          </a:p>
          <a:p>
            <a:r>
              <a:rPr lang="en-IN" sz="2000" b="1" dirty="0">
                <a:latin typeface="Times New Roman" panose="02020603050405020304" pitchFamily="18" charset="0"/>
                <a:cs typeface="Times New Roman" panose="02020603050405020304" pitchFamily="18" charset="0"/>
              </a:rPr>
              <a:t>5. Combined Dashboard Panel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Includes gauge, graph, and feed values on one screen.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Provides complete real-time monitoring system.</a:t>
            </a:r>
          </a:p>
        </p:txBody>
      </p:sp>
      <p:sp>
        <p:nvSpPr>
          <p:cNvPr id="3" name="TextBox 2">
            <a:extLst>
              <a:ext uri="{FF2B5EF4-FFF2-40B4-BE49-F238E27FC236}">
                <a16:creationId xmlns:a16="http://schemas.microsoft.com/office/drawing/2014/main" id="{231AFDC1-E320-B0FB-9579-1CC63F179815}"/>
              </a:ext>
            </a:extLst>
          </p:cNvPr>
          <p:cNvSpPr txBox="1"/>
          <p:nvPr/>
        </p:nvSpPr>
        <p:spPr>
          <a:xfrm>
            <a:off x="508924" y="498286"/>
            <a:ext cx="5818134"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Dashboard and Graphs Used</a:t>
            </a:r>
          </a:p>
        </p:txBody>
      </p:sp>
    </p:spTree>
    <p:extLst>
      <p:ext uri="{BB962C8B-B14F-4D97-AF65-F5344CB8AC3E}">
        <p14:creationId xmlns:p14="http://schemas.microsoft.com/office/powerpoint/2010/main" val="320261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B129D-BE15-6AC7-67FB-9D76A6AB41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B2E403-93CB-7CAD-85E2-AEE3915A8720}"/>
              </a:ext>
            </a:extLst>
          </p:cNvPr>
          <p:cNvSpPr txBox="1"/>
          <p:nvPr/>
        </p:nvSpPr>
        <p:spPr>
          <a:xfrm>
            <a:off x="500857" y="298193"/>
            <a:ext cx="5929312" cy="9510296"/>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Advantages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soil monitoring</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Remote access via cloud</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Low power and low cost</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Easy installation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Wireless communication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Suitable for smart irrigation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Scalable IoT architecture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Applications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Smart agriculture</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Greenhouse monitoring</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Home gardening systems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Precision irrigation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Agricultural research</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Smart farming automation</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Limitations</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Depends on </a:t>
            </a:r>
            <a:r>
              <a:rPr lang="en-IN" dirty="0" err="1">
                <a:latin typeface="Times New Roman" panose="02020603050405020304" pitchFamily="18" charset="0"/>
                <a:cs typeface="Times New Roman" panose="02020603050405020304" pitchFamily="18" charset="0"/>
              </a:rPr>
              <a:t>WiFi</a:t>
            </a:r>
            <a:r>
              <a:rPr lang="en-IN" dirty="0">
                <a:latin typeface="Times New Roman" panose="02020603050405020304" pitchFamily="18" charset="0"/>
                <a:cs typeface="Times New Roman" panose="02020603050405020304" pitchFamily="18" charset="0"/>
              </a:rPr>
              <a:t> availability</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Sensor accuracy affected by soil type</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Requires power source</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MQTT server dependency</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Limited sensing range</a:t>
            </a:r>
          </a:p>
          <a:p>
            <a:pPr lvl="0"/>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Future Enhancements</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Automatic irrigation pump control</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Mobile app integration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Solar power supply</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Multiple sensor nodes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AI-based irrigation prediction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LoRa/5G long-range communication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Weather data integration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analytics dashboard</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0368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6A8C4-7467-D189-EB87-AA57DA1666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3F2C08-AC1A-BB65-A9EC-CEF2265E3BC5}"/>
              </a:ext>
            </a:extLst>
          </p:cNvPr>
          <p:cNvSpPr txBox="1"/>
          <p:nvPr/>
        </p:nvSpPr>
        <p:spPr>
          <a:xfrm>
            <a:off x="500857" y="298193"/>
            <a:ext cx="5929312" cy="3508653"/>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MQTT – based soil moisture monitoring system successfully demonstrates an IoT enabled smart agriculture solution using ESP32 and cloud communication. The system accurately measures soil moisture and transmits data to the Adafruit IO platform for remote monitoring while providing local dry soil indication via LED. This project highlights the effectiveness of MQTT protocol in low bandwidth IoT communication  and presents a scalable, cost effective approach for modern precision irrigation and smart farming applications.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08561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TotalTime>
  <Words>1804</Words>
  <Application>Microsoft Office PowerPoint</Application>
  <PresentationFormat>A4 Paper (210x297 mm)</PresentationFormat>
  <Paragraphs>224</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Courier New</vt:lpstr>
      <vt:lpstr>Times New Roman</vt:lpstr>
      <vt:lpstr>Wingdings</vt:lpstr>
      <vt:lpstr>Office Theme</vt:lpstr>
      <vt:lpstr>REPORT</vt:lpstr>
      <vt:lpstr>Abstract</vt:lpstr>
      <vt:lpstr>Introduction</vt:lpstr>
      <vt:lpstr>About ThingsBoard Cloud</vt:lpstr>
      <vt:lpstr>System Architecture</vt:lpstr>
      <vt:lpstr>Working of the System</vt:lpstr>
      <vt:lpstr>Circuit Design Explanation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Anupam Yadav</dc:creator>
  <cp:lastModifiedBy>Anupam Yadav</cp:lastModifiedBy>
  <cp:revision>1</cp:revision>
  <dcterms:created xsi:type="dcterms:W3CDTF">2026-04-26T04:44:09Z</dcterms:created>
  <dcterms:modified xsi:type="dcterms:W3CDTF">2026-04-27T08:01:37Z</dcterms:modified>
</cp:coreProperties>
</file>